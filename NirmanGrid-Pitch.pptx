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sp>
      <p:sp>
        <p:nvSpPr>
          <p:cNvPr id="3" name="Shape 1"/>
          <p:cNvSpPr/>
          <p:nvPr/>
        </p:nvSpPr>
        <p:spPr>
          <a:xfrm>
            <a:off x="0" y="0"/>
            <a:ext cx="146304" cy="6858000"/>
          </a:xfrm>
          <a:prstGeom prst="rect">
            <a:avLst/>
          </a:prstGeom>
          <a:solidFill>
            <a:srgbClr val="C45C26"/>
          </a:solidFill>
          <a:ln/>
        </p:spPr>
      </p:sp>
      <p:sp>
        <p:nvSpPr>
          <p:cNvPr id="4" name="Text 2"/>
          <p:cNvSpPr/>
          <p:nvPr/>
        </p:nvSpPr>
        <p:spPr>
          <a:xfrm>
            <a:off x="640080" y="1234440"/>
            <a:ext cx="10972800" cy="274320"/>
          </a:xfrm>
          <a:prstGeom prst="rect">
            <a:avLst/>
          </a:prstGeom>
          <a:noFill/>
          <a:ln/>
        </p:spPr>
        <p:txBody>
          <a:bodyPr wrap="square" lIns="0" tIns="0" rIns="0" bIns="0" rtlCol="0" anchor="ctr"/>
          <a:lstStyle/>
          <a:p>
            <a:pPr indent="0" marL="0">
              <a:buNone/>
            </a:pPr>
            <a:r>
              <a:rPr lang="en-US" sz="1200" b="1" spc="200" kern="0" dirty="0">
                <a:solidFill>
                  <a:srgbClr val="C45C26"/>
                </a:solidFill>
                <a:latin typeface="Arial" pitchFamily="34" charset="0"/>
                <a:ea typeface="Arial" pitchFamily="34" charset="-122"/>
                <a:cs typeface="Arial" pitchFamily="34" charset="-120"/>
              </a:rPr>
              <a:t>TRACK 1  ·  DIGITAL PUBLIC INFRASTRUCTURE</a:t>
            </a:r>
            <a:endParaRPr lang="en-US" sz="1200" dirty="0"/>
          </a:p>
        </p:txBody>
      </p:sp>
      <p:sp>
        <p:nvSpPr>
          <p:cNvPr id="5" name="Text 3"/>
          <p:cNvSpPr/>
          <p:nvPr/>
        </p:nvSpPr>
        <p:spPr>
          <a:xfrm>
            <a:off x="640080" y="1645920"/>
            <a:ext cx="10972800" cy="7772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NirmanGrid</a:t>
            </a:r>
            <a:endParaRPr lang="en-US" sz="4800" dirty="0"/>
          </a:p>
        </p:txBody>
      </p:sp>
      <p:sp>
        <p:nvSpPr>
          <p:cNvPr id="6" name="Text 4"/>
          <p:cNvSpPr/>
          <p:nvPr/>
        </p:nvSpPr>
        <p:spPr>
          <a:xfrm>
            <a:off x="640080" y="2514600"/>
            <a:ext cx="10241280" cy="640080"/>
          </a:xfrm>
          <a:prstGeom prst="rect">
            <a:avLst/>
          </a:prstGeom>
          <a:noFill/>
          <a:ln/>
        </p:spPr>
        <p:txBody>
          <a:bodyPr wrap="square" lIns="0" tIns="0" rIns="0" bIns="0" rtlCol="0" anchor="ctr"/>
          <a:lstStyle/>
          <a:p>
            <a:pPr indent="0" marL="0">
              <a:buNone/>
            </a:pPr>
            <a:r>
              <a:rPr lang="en-US" sz="1800" dirty="0">
                <a:solidFill>
                  <a:srgbClr val="F7F3EA"/>
                </a:solidFill>
                <a:latin typeface="Arial" pitchFamily="34" charset="0"/>
                <a:ea typeface="Arial" pitchFamily="34" charset="-122"/>
                <a:cs typeface="Arial" pitchFamily="34" charset="-120"/>
              </a:rPr>
              <a:t>Citizens speak a development need. The system ranks it against what India is already funded to build.</a:t>
            </a:r>
            <a:endParaRPr lang="en-US" sz="1800" dirty="0"/>
          </a:p>
        </p:txBody>
      </p:sp>
      <p:sp>
        <p:nvSpPr>
          <p:cNvPr id="7" name="Text 5"/>
          <p:cNvSpPr/>
          <p:nvPr/>
        </p:nvSpPr>
        <p:spPr>
          <a:xfrm>
            <a:off x="640080" y="3383280"/>
            <a:ext cx="10515600" cy="365760"/>
          </a:xfrm>
          <a:prstGeom prst="rect">
            <a:avLst/>
          </a:prstGeom>
          <a:noFill/>
          <a:ln/>
        </p:spPr>
        <p:txBody>
          <a:bodyPr wrap="square" lIns="0" tIns="0" rIns="0" bIns="0" rtlCol="0" anchor="ctr"/>
          <a:lstStyle/>
          <a:p>
            <a:pPr indent="0" marL="0">
              <a:buNone/>
            </a:pPr>
            <a:r>
              <a:rPr lang="en-US" sz="1300" dirty="0">
                <a:solidFill>
                  <a:srgbClr val="B8C0CE"/>
                </a:solidFill>
                <a:latin typeface="Arial" pitchFamily="34" charset="0"/>
                <a:ea typeface="Arial" pitchFamily="34" charset="-122"/>
                <a:cs typeface="Arial" pitchFamily="34" charset="-120"/>
              </a:rPr>
              <a:t>PWD Delhi seeded  ·  PWD Rajasthan expansion in motion  ·  Built in this window on Gemini, Vertex and public data</a:t>
            </a:r>
            <a:endParaRPr lang="en-US" sz="1300" dirty="0"/>
          </a:p>
        </p:txBody>
      </p:sp>
      <p:sp>
        <p:nvSpPr>
          <p:cNvPr id="8" name="Text 6"/>
          <p:cNvSpPr/>
          <p:nvPr/>
        </p:nvSpPr>
        <p:spPr>
          <a:xfrm>
            <a:off x="640080" y="5989320"/>
            <a:ext cx="10058400" cy="274320"/>
          </a:xfrm>
          <a:prstGeom prst="rect">
            <a:avLst/>
          </a:prstGeom>
          <a:noFill/>
          <a:ln/>
        </p:spPr>
        <p:txBody>
          <a:bodyPr wrap="square" lIns="0" tIns="0" rIns="0" bIns="0" rtlCol="0" anchor="ctr"/>
          <a:lstStyle/>
          <a:p>
            <a:pPr indent="0" marL="0">
              <a:buNone/>
            </a:pPr>
            <a:r>
              <a:rPr lang="en-US" sz="1200" dirty="0">
                <a:solidFill>
                  <a:srgbClr val="8A97AB"/>
                </a:solidFill>
                <a:latin typeface="Arial" pitchFamily="34" charset="0"/>
                <a:ea typeface="Arial" pitchFamily="34" charset="-122"/>
                <a:cs typeface="Arial" pitchFamily="34" charset="-120"/>
              </a:rPr>
              <a:t>AppD AI  ·  Code for Communities — Second Edition  ·  30 Sep 2026 submission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A"/>
          </a:solidFill>
          <a:ln/>
        </p:spPr>
      </p:sp>
      <p:sp>
        <p:nvSpPr>
          <p:cNvPr id="3" name="Text 1"/>
          <p:cNvSpPr/>
          <p:nvPr/>
        </p:nvSpPr>
        <p:spPr>
          <a:xfrm>
            <a:off x="457200" y="256032"/>
            <a:ext cx="10972800" cy="228600"/>
          </a:xfrm>
          <a:prstGeom prst="rect">
            <a:avLst/>
          </a:prstGeom>
          <a:noFill/>
          <a:ln/>
        </p:spPr>
        <p:txBody>
          <a:bodyPr wrap="square" lIns="0" tIns="0" rIns="0" bIns="0" rtlCol="0" anchor="ctr"/>
          <a:lstStyle/>
          <a:p>
            <a:pPr indent="0" marL="0">
              <a:buNone/>
            </a:pPr>
            <a:r>
              <a:rPr lang="en-US" sz="1100" b="1" spc="150" kern="0" dirty="0">
                <a:solidFill>
                  <a:srgbClr val="C45C26"/>
                </a:solidFill>
                <a:latin typeface="Arial" pitchFamily="34" charset="0"/>
                <a:ea typeface="Arial" pitchFamily="34" charset="-122"/>
                <a:cs typeface="Arial" pitchFamily="34" charset="-120"/>
              </a:rPr>
              <a:t>THE GAP THE BRIEF NAMED</a:t>
            </a:r>
            <a:endParaRPr lang="en-US" sz="1100" dirty="0"/>
          </a:p>
        </p:txBody>
      </p:sp>
      <p:sp>
        <p:nvSpPr>
          <p:cNvPr id="4" name="Text 2"/>
          <p:cNvSpPr/>
          <p:nvPr/>
        </p:nvSpPr>
        <p:spPr>
          <a:xfrm>
            <a:off x="457200" y="502920"/>
            <a:ext cx="11247120" cy="411480"/>
          </a:xfrm>
          <a:prstGeom prst="rect">
            <a:avLst/>
          </a:prstGeom>
          <a:noFill/>
          <a:ln/>
        </p:spPr>
        <p:txBody>
          <a:bodyPr wrap="square" lIns="0" tIns="0" rIns="0" bIns="0" rtlCol="0" anchor="ctr"/>
          <a:lstStyle/>
          <a:p>
            <a:pPr indent="0" marL="0">
              <a:buNone/>
            </a:pPr>
            <a:r>
              <a:rPr lang="en-US" sz="2200" b="1" dirty="0">
                <a:solidFill>
                  <a:srgbClr val="1B2A4A"/>
                </a:solidFill>
                <a:latin typeface="Arial" pitchFamily="34" charset="0"/>
                <a:ea typeface="Arial" pitchFamily="34" charset="-122"/>
                <a:cs typeface="Arial" pitchFamily="34" charset="-120"/>
              </a:rPr>
              <a:t>Requests live in one system. Plans live in another. There is no join.</a:t>
            </a:r>
            <a:endParaRPr lang="en-US" sz="2200" dirty="0"/>
          </a:p>
        </p:txBody>
      </p:sp>
      <p:sp>
        <p:nvSpPr>
          <p:cNvPr id="5" name="Shape 3"/>
          <p:cNvSpPr/>
          <p:nvPr/>
        </p:nvSpPr>
        <p:spPr>
          <a:xfrm>
            <a:off x="457200" y="1188720"/>
            <a:ext cx="3611880" cy="2148840"/>
          </a:xfrm>
          <a:prstGeom prst="roundRect">
            <a:avLst>
              <a:gd name="adj" fmla="val 3404"/>
            </a:avLst>
          </a:prstGeom>
          <a:solidFill>
            <a:srgbClr val="FFFFFF"/>
          </a:solidFill>
          <a:ln/>
        </p:spPr>
      </p:sp>
      <p:sp>
        <p:nvSpPr>
          <p:cNvPr id="6" name="Shape 4"/>
          <p:cNvSpPr/>
          <p:nvPr/>
        </p:nvSpPr>
        <p:spPr>
          <a:xfrm>
            <a:off x="457200" y="1188720"/>
            <a:ext cx="91440" cy="2148840"/>
          </a:xfrm>
          <a:prstGeom prst="rect">
            <a:avLst/>
          </a:prstGeom>
          <a:solidFill>
            <a:srgbClr val="C45C26"/>
          </a:solidFill>
          <a:ln/>
        </p:spPr>
      </p:sp>
      <p:sp>
        <p:nvSpPr>
          <p:cNvPr id="7" name="Text 5"/>
          <p:cNvSpPr/>
          <p:nvPr/>
        </p:nvSpPr>
        <p:spPr>
          <a:xfrm>
            <a:off x="713232" y="1325880"/>
            <a:ext cx="3200400" cy="502920"/>
          </a:xfrm>
          <a:prstGeom prst="rect">
            <a:avLst/>
          </a:prstGeom>
          <a:noFill/>
          <a:ln/>
        </p:spPr>
        <p:txBody>
          <a:bodyPr wrap="square" lIns="0" tIns="0" rIns="0" bIns="0" rtlCol="0" anchor="ctr"/>
          <a:lstStyle/>
          <a:p>
            <a:pPr indent="0" marL="0">
              <a:buNone/>
            </a:pPr>
            <a:r>
              <a:rPr lang="en-US" sz="1400" b="1" dirty="0">
                <a:solidFill>
                  <a:srgbClr val="1B2A4A"/>
                </a:solidFill>
                <a:latin typeface="Arial" pitchFamily="34" charset="0"/>
                <a:ea typeface="Arial" pitchFamily="34" charset="-122"/>
                <a:cs typeface="Arial" pitchFamily="34" charset="-120"/>
              </a:rPr>
              <a:t>Citizen demand today</a:t>
            </a:r>
            <a:endParaRPr lang="en-US" sz="1400" dirty="0"/>
          </a:p>
        </p:txBody>
      </p:sp>
      <p:sp>
        <p:nvSpPr>
          <p:cNvPr id="8" name="Text 6"/>
          <p:cNvSpPr/>
          <p:nvPr/>
        </p:nvSpPr>
        <p:spPr>
          <a:xfrm>
            <a:off x="713232" y="1874520"/>
            <a:ext cx="3200400" cy="1280160"/>
          </a:xfrm>
          <a:prstGeom prst="rect">
            <a:avLst/>
          </a:prstGeom>
          <a:noFill/>
          <a:ln/>
        </p:spPr>
        <p:txBody>
          <a:bodyPr wrap="square" lIns="0" tIns="0" rIns="0" bIns="0" rtlCol="0" anchor="ctr"/>
          <a:lstStyle/>
          <a:p>
            <a:pPr indent="0" marL="0">
              <a:buNone/>
            </a:pPr>
            <a:r>
              <a:rPr lang="en-US" sz="1300" dirty="0">
                <a:solidFill>
                  <a:srgbClr val="5C6B80"/>
                </a:solidFill>
                <a:latin typeface="Arial" pitchFamily="34" charset="0"/>
                <a:ea typeface="Arial" pitchFamily="34" charset="-122"/>
                <a:cs typeface="Arial" pitchFamily="34" charset="-120"/>
              </a:rPr>
              <a:t>PWD Sewa, letters, camps, WhatsApp, 1908. Tickets. Silence after the number.</a:t>
            </a:r>
            <a:endParaRPr lang="en-US" sz="1300" dirty="0"/>
          </a:p>
        </p:txBody>
      </p:sp>
      <p:sp>
        <p:nvSpPr>
          <p:cNvPr id="9" name="Shape 7"/>
          <p:cNvSpPr/>
          <p:nvPr/>
        </p:nvSpPr>
        <p:spPr>
          <a:xfrm>
            <a:off x="4297680" y="1188720"/>
            <a:ext cx="3611880" cy="2148840"/>
          </a:xfrm>
          <a:prstGeom prst="roundRect">
            <a:avLst>
              <a:gd name="adj" fmla="val 3404"/>
            </a:avLst>
          </a:prstGeom>
          <a:solidFill>
            <a:srgbClr val="FFFFFF"/>
          </a:solidFill>
          <a:ln/>
        </p:spPr>
      </p:sp>
      <p:sp>
        <p:nvSpPr>
          <p:cNvPr id="10" name="Shape 8"/>
          <p:cNvSpPr/>
          <p:nvPr/>
        </p:nvSpPr>
        <p:spPr>
          <a:xfrm>
            <a:off x="4297680" y="1188720"/>
            <a:ext cx="91440" cy="2148840"/>
          </a:xfrm>
          <a:prstGeom prst="rect">
            <a:avLst/>
          </a:prstGeom>
          <a:solidFill>
            <a:srgbClr val="C45C26"/>
          </a:solidFill>
          <a:ln/>
        </p:spPr>
      </p:sp>
      <p:sp>
        <p:nvSpPr>
          <p:cNvPr id="11" name="Text 9"/>
          <p:cNvSpPr/>
          <p:nvPr/>
        </p:nvSpPr>
        <p:spPr>
          <a:xfrm>
            <a:off x="4553712" y="1325880"/>
            <a:ext cx="3200400" cy="502920"/>
          </a:xfrm>
          <a:prstGeom prst="rect">
            <a:avLst/>
          </a:prstGeom>
          <a:noFill/>
          <a:ln/>
        </p:spPr>
        <p:txBody>
          <a:bodyPr wrap="square" lIns="0" tIns="0" rIns="0" bIns="0" rtlCol="0" anchor="ctr"/>
          <a:lstStyle/>
          <a:p>
            <a:pPr indent="0" marL="0">
              <a:buNone/>
            </a:pPr>
            <a:r>
              <a:rPr lang="en-US" sz="1400" b="1" dirty="0">
                <a:solidFill>
                  <a:srgbClr val="1B2A4A"/>
                </a:solidFill>
                <a:latin typeface="Arial" pitchFamily="34" charset="0"/>
                <a:ea typeface="Arial" pitchFamily="34" charset="-122"/>
                <a:cs typeface="Arial" pitchFamily="34" charset="-120"/>
              </a:rPr>
              <a:t>Public investment today</a:t>
            </a:r>
            <a:endParaRPr lang="en-US" sz="1400" dirty="0"/>
          </a:p>
        </p:txBody>
      </p:sp>
      <p:sp>
        <p:nvSpPr>
          <p:cNvPr id="12" name="Text 10"/>
          <p:cNvSpPr/>
          <p:nvPr/>
        </p:nvSpPr>
        <p:spPr>
          <a:xfrm>
            <a:off x="4553712" y="1874520"/>
            <a:ext cx="3200400" cy="1280160"/>
          </a:xfrm>
          <a:prstGeom prst="rect">
            <a:avLst/>
          </a:prstGeom>
          <a:noFill/>
          <a:ln/>
        </p:spPr>
        <p:txBody>
          <a:bodyPr wrap="square" lIns="0" tIns="0" rIns="0" bIns="0" rtlCol="0" anchor="ctr"/>
          <a:lstStyle/>
          <a:p>
            <a:pPr indent="0" marL="0">
              <a:buNone/>
            </a:pPr>
            <a:r>
              <a:rPr lang="en-US" sz="1300" dirty="0">
                <a:solidFill>
                  <a:srgbClr val="5C6B80"/>
                </a:solidFill>
                <a:latin typeface="Arial" pitchFamily="34" charset="0"/>
                <a:ea typeface="Arial" pitchFamily="34" charset="-122"/>
                <a:cs typeface="Arial" pitchFamily="34" charset="-120"/>
              </a:rPr>
              <a:t>MPLADS, state PWD budgets, PMGSY, ministry programmes. Plans the citizen never sees.</a:t>
            </a:r>
            <a:endParaRPr lang="en-US" sz="1300" dirty="0"/>
          </a:p>
        </p:txBody>
      </p:sp>
      <p:sp>
        <p:nvSpPr>
          <p:cNvPr id="13" name="Shape 11"/>
          <p:cNvSpPr/>
          <p:nvPr/>
        </p:nvSpPr>
        <p:spPr>
          <a:xfrm>
            <a:off x="8138160" y="1188720"/>
            <a:ext cx="3611880" cy="2148840"/>
          </a:xfrm>
          <a:prstGeom prst="roundRect">
            <a:avLst>
              <a:gd name="adj" fmla="val 3404"/>
            </a:avLst>
          </a:prstGeom>
          <a:solidFill>
            <a:srgbClr val="FFFFFF"/>
          </a:solidFill>
          <a:ln/>
        </p:spPr>
      </p:sp>
      <p:sp>
        <p:nvSpPr>
          <p:cNvPr id="14" name="Shape 12"/>
          <p:cNvSpPr/>
          <p:nvPr/>
        </p:nvSpPr>
        <p:spPr>
          <a:xfrm>
            <a:off x="8138160" y="1188720"/>
            <a:ext cx="91440" cy="2148840"/>
          </a:xfrm>
          <a:prstGeom prst="rect">
            <a:avLst/>
          </a:prstGeom>
          <a:solidFill>
            <a:srgbClr val="C45C26"/>
          </a:solidFill>
          <a:ln/>
        </p:spPr>
      </p:sp>
      <p:sp>
        <p:nvSpPr>
          <p:cNvPr id="15" name="Text 13"/>
          <p:cNvSpPr/>
          <p:nvPr/>
        </p:nvSpPr>
        <p:spPr>
          <a:xfrm>
            <a:off x="8394192" y="1325880"/>
            <a:ext cx="3200400" cy="502920"/>
          </a:xfrm>
          <a:prstGeom prst="rect">
            <a:avLst/>
          </a:prstGeom>
          <a:noFill/>
          <a:ln/>
        </p:spPr>
        <p:txBody>
          <a:bodyPr wrap="square" lIns="0" tIns="0" rIns="0" bIns="0" rtlCol="0" anchor="ctr"/>
          <a:lstStyle/>
          <a:p>
            <a:pPr indent="0" marL="0">
              <a:buNone/>
            </a:pPr>
            <a:r>
              <a:rPr lang="en-US" sz="1400" b="1" dirty="0">
                <a:solidFill>
                  <a:srgbClr val="1B2A4A"/>
                </a:solidFill>
                <a:latin typeface="Arial" pitchFamily="34" charset="0"/>
                <a:ea typeface="Arial" pitchFamily="34" charset="-122"/>
                <a:cs typeface="Arial" pitchFamily="34" charset="-120"/>
              </a:rPr>
              <a:t>What Edition 2 asks</a:t>
            </a:r>
            <a:endParaRPr lang="en-US" sz="1400" dirty="0"/>
          </a:p>
        </p:txBody>
      </p:sp>
      <p:sp>
        <p:nvSpPr>
          <p:cNvPr id="16" name="Text 14"/>
          <p:cNvSpPr/>
          <p:nvPr/>
        </p:nvSpPr>
        <p:spPr>
          <a:xfrm>
            <a:off x="8394192" y="1874520"/>
            <a:ext cx="3200400" cy="1280160"/>
          </a:xfrm>
          <a:prstGeom prst="rect">
            <a:avLst/>
          </a:prstGeom>
          <a:noFill/>
          <a:ln/>
        </p:spPr>
        <p:txBody>
          <a:bodyPr wrap="square" lIns="0" tIns="0" rIns="0" bIns="0" rtlCol="0" anchor="ctr"/>
          <a:lstStyle/>
          <a:p>
            <a:pPr indent="0" marL="0">
              <a:buNone/>
            </a:pPr>
            <a:r>
              <a:rPr lang="en-US" sz="1300" dirty="0">
                <a:solidFill>
                  <a:srgbClr val="5C6B80"/>
                </a:solidFill>
                <a:latin typeface="Arial" pitchFamily="34" charset="0"/>
                <a:ea typeface="Arial" pitchFamily="34" charset="-122"/>
                <a:cs typeface="Arial" pitchFamily="34" charset="-120"/>
              </a:rPr>
              <a:t>A Digital Public Good that fuses both and recommends works to national policymakers.</a:t>
            </a:r>
            <a:endParaRPr lang="en-US" sz="1300" dirty="0"/>
          </a:p>
        </p:txBody>
      </p:sp>
      <p:sp>
        <p:nvSpPr>
          <p:cNvPr id="17" name="Shape 15"/>
          <p:cNvSpPr/>
          <p:nvPr/>
        </p:nvSpPr>
        <p:spPr>
          <a:xfrm>
            <a:off x="457200" y="3566160"/>
            <a:ext cx="11292840" cy="2468880"/>
          </a:xfrm>
          <a:prstGeom prst="roundRect">
            <a:avLst>
              <a:gd name="adj" fmla="val 2222"/>
            </a:avLst>
          </a:prstGeom>
          <a:solidFill>
            <a:srgbClr val="1B2A4A"/>
          </a:solidFill>
          <a:ln/>
        </p:spPr>
      </p:sp>
      <p:sp>
        <p:nvSpPr>
          <p:cNvPr id="18" name="Text 16"/>
          <p:cNvSpPr/>
          <p:nvPr/>
        </p:nvSpPr>
        <p:spPr>
          <a:xfrm>
            <a:off x="685800" y="3730752"/>
            <a:ext cx="10789920" cy="228600"/>
          </a:xfrm>
          <a:prstGeom prst="rect">
            <a:avLst/>
          </a:prstGeom>
          <a:noFill/>
          <a:ln/>
        </p:spPr>
        <p:txBody>
          <a:bodyPr wrap="square" lIns="0" tIns="0" rIns="0" bIns="0" rtlCol="0" anchor="ctr"/>
          <a:lstStyle/>
          <a:p>
            <a:pPr indent="0" marL="0">
              <a:buNone/>
            </a:pPr>
            <a:r>
              <a:rPr lang="en-US" sz="1000" b="1" spc="100" kern="0" dirty="0">
                <a:solidFill>
                  <a:srgbClr val="C45C26"/>
                </a:solidFill>
                <a:latin typeface="Arial" pitchFamily="34" charset="0"/>
                <a:ea typeface="Arial" pitchFamily="34" charset="-122"/>
                <a:cs typeface="Arial" pitchFamily="34" charset="-120"/>
              </a:rPr>
              <a:t>OFFICIAL PROBLEM SENTENCE</a:t>
            </a:r>
            <a:endParaRPr lang="en-US" sz="1000" dirty="0"/>
          </a:p>
        </p:txBody>
      </p:sp>
      <p:sp>
        <p:nvSpPr>
          <p:cNvPr id="19" name="Text 17"/>
          <p:cNvSpPr/>
          <p:nvPr/>
        </p:nvSpPr>
        <p:spPr>
          <a:xfrm>
            <a:off x="685800" y="4023360"/>
            <a:ext cx="10789920" cy="178308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Governments struggle to consolidate citizen feedback and align it with national infrastructure priorities. Development requests live in fragmented systems, leading to misaligned public spending, unaddressed infrastructure gaps, and no way to measure the impact of large-scale digital public infrastructure initiatives.</a:t>
            </a:r>
            <a:endParaRPr lang="en-US" sz="1500" dirty="0"/>
          </a:p>
        </p:txBody>
      </p:sp>
      <p:sp>
        <p:nvSpPr>
          <p:cNvPr id="20" name="Text 18"/>
          <p:cNvSpPr/>
          <p:nvPr/>
        </p:nvSpPr>
        <p:spPr>
          <a:xfrm>
            <a:off x="365760" y="6446520"/>
            <a:ext cx="9144000" cy="228600"/>
          </a:xfrm>
          <a:prstGeom prst="rect">
            <a:avLst/>
          </a:prstGeom>
          <a:noFill/>
          <a:ln/>
        </p:spPr>
        <p:txBody>
          <a:bodyPr wrap="square" lIns="0" tIns="0" rIns="0" bIns="0" rtlCol="0" anchor="ctr"/>
          <a:lstStyle/>
          <a:p>
            <a:pPr indent="0" marL="0">
              <a:buNone/>
            </a:pPr>
            <a:r>
              <a:rPr lang="en-US" sz="1000" dirty="0">
                <a:solidFill>
                  <a:srgbClr val="5C6B80"/>
                </a:solidFill>
                <a:latin typeface="Arial" pitchFamily="34" charset="0"/>
                <a:ea typeface="Arial" pitchFamily="34" charset="-122"/>
                <a:cs typeface="Arial" pitchFamily="34" charset="-120"/>
              </a:rPr>
              <a:t>NIRMANGRID  ·  TRACK 1  ·  APPD AI</a:t>
            </a:r>
            <a:endParaRPr lang="en-US" sz="1000" dirty="0"/>
          </a:p>
        </p:txBody>
      </p:sp>
      <p:sp>
        <p:nvSpPr>
          <p:cNvPr id="21" name="Text 19"/>
          <p:cNvSpPr/>
          <p:nvPr/>
        </p:nvSpPr>
        <p:spPr>
          <a:xfrm>
            <a:off x="11155680" y="6446520"/>
            <a:ext cx="640080" cy="228600"/>
          </a:xfrm>
          <a:prstGeom prst="rect">
            <a:avLst/>
          </a:prstGeom>
          <a:noFill/>
          <a:ln/>
        </p:spPr>
        <p:txBody>
          <a:bodyPr wrap="square" lIns="0" tIns="0" rIns="0" bIns="0" rtlCol="0" anchor="ctr"/>
          <a:lstStyle/>
          <a:p>
            <a:pPr algn="r" indent="0" marL="0">
              <a:buNone/>
            </a:pPr>
            <a:r>
              <a:rPr lang="en-US" sz="1000" dirty="0">
                <a:solidFill>
                  <a:srgbClr val="5C6B80"/>
                </a:solidFill>
                <a:latin typeface="Arial" pitchFamily="34" charset="0"/>
                <a:ea typeface="Arial" pitchFamily="34" charset="-122"/>
                <a:cs typeface="Arial" pitchFamily="34" charset="-120"/>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A"/>
          </a:solidFill>
          <a:ln/>
        </p:spPr>
      </p:sp>
      <p:sp>
        <p:nvSpPr>
          <p:cNvPr id="3" name="Text 1"/>
          <p:cNvSpPr/>
          <p:nvPr/>
        </p:nvSpPr>
        <p:spPr>
          <a:xfrm>
            <a:off x="457200" y="256032"/>
            <a:ext cx="10972800" cy="228600"/>
          </a:xfrm>
          <a:prstGeom prst="rect">
            <a:avLst/>
          </a:prstGeom>
          <a:noFill/>
          <a:ln/>
        </p:spPr>
        <p:txBody>
          <a:bodyPr wrap="square" lIns="0" tIns="0" rIns="0" bIns="0" rtlCol="0" anchor="ctr"/>
          <a:lstStyle/>
          <a:p>
            <a:pPr indent="0" marL="0">
              <a:buNone/>
            </a:pPr>
            <a:r>
              <a:rPr lang="en-US" sz="1100" b="1" spc="150" kern="0" dirty="0">
                <a:solidFill>
                  <a:srgbClr val="C45C26"/>
                </a:solidFill>
                <a:latin typeface="Arial" pitchFamily="34" charset="0"/>
                <a:ea typeface="Arial" pitchFamily="34" charset="-122"/>
                <a:cs typeface="Arial" pitchFamily="34" charset="-120"/>
              </a:rPr>
              <a:t>WHAT WE ALREADY KNOW FROM THE FIELD</a:t>
            </a:r>
            <a:endParaRPr lang="en-US" sz="1100" dirty="0"/>
          </a:p>
        </p:txBody>
      </p:sp>
      <p:sp>
        <p:nvSpPr>
          <p:cNvPr id="4" name="Text 2"/>
          <p:cNvSpPr/>
          <p:nvPr/>
        </p:nvSpPr>
        <p:spPr>
          <a:xfrm>
            <a:off x="457200" y="502920"/>
            <a:ext cx="11247120" cy="411480"/>
          </a:xfrm>
          <a:prstGeom prst="rect">
            <a:avLst/>
          </a:prstGeom>
          <a:noFill/>
          <a:ln/>
        </p:spPr>
        <p:txBody>
          <a:bodyPr wrap="square" lIns="0" tIns="0" rIns="0" bIns="0" rtlCol="0" anchor="ctr"/>
          <a:lstStyle/>
          <a:p>
            <a:pPr indent="0" marL="0">
              <a:buNone/>
            </a:pPr>
            <a:r>
              <a:rPr lang="en-US" sz="1800" b="1" dirty="0">
                <a:solidFill>
                  <a:srgbClr val="1B2A4A"/>
                </a:solidFill>
                <a:latin typeface="Arial" pitchFamily="34" charset="0"/>
                <a:ea typeface="Arial" pitchFamily="34" charset="-122"/>
                <a:cs typeface="Arial" pitchFamily="34" charset="-120"/>
              </a:rPr>
              <a:t>This is our forte. The seeds are real. The government is slow. That is why they are still seeds.</a:t>
            </a:r>
            <a:endParaRPr lang="en-US" sz="1800" dirty="0"/>
          </a:p>
        </p:txBody>
      </p:sp>
      <p:sp>
        <p:nvSpPr>
          <p:cNvPr id="5" name="Shape 3"/>
          <p:cNvSpPr/>
          <p:nvPr/>
        </p:nvSpPr>
        <p:spPr>
          <a:xfrm>
            <a:off x="457200" y="1097280"/>
            <a:ext cx="11292840" cy="960120"/>
          </a:xfrm>
          <a:prstGeom prst="roundRect">
            <a:avLst>
              <a:gd name="adj" fmla="val 5714"/>
            </a:avLst>
          </a:prstGeom>
          <a:solidFill>
            <a:srgbClr val="FFFFFF"/>
          </a:solidFill>
          <a:ln/>
        </p:spPr>
      </p:sp>
      <p:sp>
        <p:nvSpPr>
          <p:cNvPr id="6" name="Text 4"/>
          <p:cNvSpPr/>
          <p:nvPr/>
        </p:nvSpPr>
        <p:spPr>
          <a:xfrm>
            <a:off x="640080" y="1261872"/>
            <a:ext cx="2377440" cy="640080"/>
          </a:xfrm>
          <a:prstGeom prst="rect">
            <a:avLst/>
          </a:prstGeom>
          <a:noFill/>
          <a:ln/>
        </p:spPr>
        <p:txBody>
          <a:bodyPr wrap="square" lIns="0" tIns="0" rIns="0" bIns="0" rtlCol="0" anchor="ctr"/>
          <a:lstStyle/>
          <a:p>
            <a:pPr indent="0" marL="0">
              <a:buNone/>
            </a:pPr>
            <a:r>
              <a:rPr lang="en-US" sz="1400" b="1" dirty="0">
                <a:solidFill>
                  <a:srgbClr val="1B2A4A"/>
                </a:solidFill>
                <a:latin typeface="Arial" pitchFamily="34" charset="0"/>
                <a:ea typeface="Arial" pitchFamily="34" charset="-122"/>
                <a:cs typeface="Arial" pitchFamily="34" charset="-120"/>
              </a:rPr>
              <a:t>PWD Delhi</a:t>
            </a:r>
            <a:endParaRPr lang="en-US" sz="1400" dirty="0"/>
          </a:p>
        </p:txBody>
      </p:sp>
      <p:sp>
        <p:nvSpPr>
          <p:cNvPr id="7" name="Text 5"/>
          <p:cNvSpPr/>
          <p:nvPr/>
        </p:nvSpPr>
        <p:spPr>
          <a:xfrm>
            <a:off x="3108960" y="1261872"/>
            <a:ext cx="2286000" cy="640080"/>
          </a:xfrm>
          <a:prstGeom prst="rect">
            <a:avLst/>
          </a:prstGeom>
          <a:noFill/>
          <a:ln/>
        </p:spPr>
        <p:txBody>
          <a:bodyPr wrap="square" lIns="0" tIns="0" rIns="0" bIns="0" rtlCol="0" anchor="ctr"/>
          <a:lstStyle/>
          <a:p>
            <a:pPr indent="0" marL="0">
              <a:buNone/>
            </a:pPr>
            <a:r>
              <a:rPr lang="en-US" sz="1100" b="1" dirty="0">
                <a:solidFill>
                  <a:srgbClr val="C45C26"/>
                </a:solidFill>
                <a:latin typeface="Arial" pitchFamily="34" charset="0"/>
                <a:ea typeface="Arial" pitchFamily="34" charset="-122"/>
                <a:cs typeface="Arial" pitchFamily="34" charset="-120"/>
              </a:rPr>
              <a:t>SEEDED LIVE DEMO</a:t>
            </a:r>
            <a:endParaRPr lang="en-US" sz="1100" dirty="0"/>
          </a:p>
        </p:txBody>
      </p:sp>
      <p:sp>
        <p:nvSpPr>
          <p:cNvPr id="8" name="Text 6"/>
          <p:cNvSpPr/>
          <p:nvPr/>
        </p:nvSpPr>
        <p:spPr>
          <a:xfrm>
            <a:off x="5486400" y="1261872"/>
            <a:ext cx="6035040" cy="640080"/>
          </a:xfrm>
          <a:prstGeom prst="rect">
            <a:avLst/>
          </a:prstGeom>
          <a:noFill/>
          <a:ln/>
        </p:spPr>
        <p:txBody>
          <a:bodyPr wrap="square" lIns="0" tIns="0" rIns="0" bIns="0" rtlCol="0" anchor="ctr"/>
          <a:lstStyle/>
          <a:p>
            <a:pPr indent="0" marL="0">
              <a:buNone/>
            </a:pPr>
            <a:r>
              <a:rPr lang="en-US" sz="1300" dirty="0">
                <a:solidFill>
                  <a:srgbClr val="5C6B80"/>
                </a:solidFill>
                <a:latin typeface="Arial" pitchFamily="34" charset="0"/>
                <a:ea typeface="Arial" pitchFamily="34" charset="-122"/>
                <a:cs typeface="Arial" pitchFamily="34" charset="-120"/>
              </a:rPr>
              <a:t>Infra-query + workflow automation. Appreciated. Not a signed work order.</a:t>
            </a:r>
            <a:endParaRPr lang="en-US" sz="1300" dirty="0"/>
          </a:p>
        </p:txBody>
      </p:sp>
      <p:sp>
        <p:nvSpPr>
          <p:cNvPr id="9" name="Shape 7"/>
          <p:cNvSpPr/>
          <p:nvPr/>
        </p:nvSpPr>
        <p:spPr>
          <a:xfrm>
            <a:off x="457200" y="2148840"/>
            <a:ext cx="11292840" cy="960120"/>
          </a:xfrm>
          <a:prstGeom prst="roundRect">
            <a:avLst>
              <a:gd name="adj" fmla="val 5714"/>
            </a:avLst>
          </a:prstGeom>
          <a:solidFill>
            <a:srgbClr val="FFFFFF"/>
          </a:solidFill>
          <a:ln/>
        </p:spPr>
      </p:sp>
      <p:sp>
        <p:nvSpPr>
          <p:cNvPr id="10" name="Text 8"/>
          <p:cNvSpPr/>
          <p:nvPr/>
        </p:nvSpPr>
        <p:spPr>
          <a:xfrm>
            <a:off x="640080" y="2313432"/>
            <a:ext cx="2377440" cy="640080"/>
          </a:xfrm>
          <a:prstGeom prst="rect">
            <a:avLst/>
          </a:prstGeom>
          <a:noFill/>
          <a:ln/>
        </p:spPr>
        <p:txBody>
          <a:bodyPr wrap="square" lIns="0" tIns="0" rIns="0" bIns="0" rtlCol="0" anchor="ctr"/>
          <a:lstStyle/>
          <a:p>
            <a:pPr indent="0" marL="0">
              <a:buNone/>
            </a:pPr>
            <a:r>
              <a:rPr lang="en-US" sz="1400" b="1" dirty="0">
                <a:solidFill>
                  <a:srgbClr val="1B2A4A"/>
                </a:solidFill>
                <a:latin typeface="Arial" pitchFamily="34" charset="0"/>
                <a:ea typeface="Arial" pitchFamily="34" charset="-122"/>
                <a:cs typeface="Arial" pitchFamily="34" charset="-120"/>
              </a:rPr>
              <a:t>PWD Rajasthan</a:t>
            </a:r>
            <a:endParaRPr lang="en-US" sz="1400" dirty="0"/>
          </a:p>
        </p:txBody>
      </p:sp>
      <p:sp>
        <p:nvSpPr>
          <p:cNvPr id="11" name="Text 9"/>
          <p:cNvSpPr/>
          <p:nvPr/>
        </p:nvSpPr>
        <p:spPr>
          <a:xfrm>
            <a:off x="3108960" y="2313432"/>
            <a:ext cx="2286000" cy="640080"/>
          </a:xfrm>
          <a:prstGeom prst="rect">
            <a:avLst/>
          </a:prstGeom>
          <a:noFill/>
          <a:ln/>
        </p:spPr>
        <p:txBody>
          <a:bodyPr wrap="square" lIns="0" tIns="0" rIns="0" bIns="0" rtlCol="0" anchor="ctr"/>
          <a:lstStyle/>
          <a:p>
            <a:pPr indent="0" marL="0">
              <a:buNone/>
            </a:pPr>
            <a:r>
              <a:rPr lang="en-US" sz="1100" b="1" dirty="0">
                <a:solidFill>
                  <a:srgbClr val="C45C26"/>
                </a:solidFill>
                <a:latin typeface="Arial" pitchFamily="34" charset="0"/>
                <a:ea typeface="Arial" pitchFamily="34" charset="-122"/>
                <a:cs typeface="Arial" pitchFamily="34" charset="-120"/>
              </a:rPr>
              <a:t>CHANNEL EXPANSION</a:t>
            </a:r>
            <a:endParaRPr lang="en-US" sz="1100" dirty="0"/>
          </a:p>
        </p:txBody>
      </p:sp>
      <p:sp>
        <p:nvSpPr>
          <p:cNvPr id="12" name="Text 10"/>
          <p:cNvSpPr/>
          <p:nvPr/>
        </p:nvSpPr>
        <p:spPr>
          <a:xfrm>
            <a:off x="5486400" y="2313432"/>
            <a:ext cx="6035040" cy="640080"/>
          </a:xfrm>
          <a:prstGeom prst="rect">
            <a:avLst/>
          </a:prstGeom>
          <a:noFill/>
          <a:ln/>
        </p:spPr>
        <p:txBody>
          <a:bodyPr wrap="square" lIns="0" tIns="0" rIns="0" bIns="0" rtlCol="0" anchor="ctr"/>
          <a:lstStyle/>
          <a:p>
            <a:pPr indent="0" marL="0">
              <a:buNone/>
            </a:pPr>
            <a:r>
              <a:rPr lang="en-US" sz="1300" dirty="0">
                <a:solidFill>
                  <a:srgbClr val="5C6B80"/>
                </a:solidFill>
                <a:latin typeface="Arial" pitchFamily="34" charset="0"/>
                <a:ea typeface="Arial" pitchFamily="34" charset="-122"/>
                <a:cs typeface="Arial" pitchFamily="34" charset="-120"/>
              </a:rPr>
              <a:t>May 2026 two-pager: 5 languages, 33 districts, 90-day path starting Jaipur / Udaipur / Jodhpur.</a:t>
            </a:r>
            <a:endParaRPr lang="en-US" sz="1300" dirty="0"/>
          </a:p>
        </p:txBody>
      </p:sp>
      <p:sp>
        <p:nvSpPr>
          <p:cNvPr id="13" name="Shape 11"/>
          <p:cNvSpPr/>
          <p:nvPr/>
        </p:nvSpPr>
        <p:spPr>
          <a:xfrm>
            <a:off x="457200" y="3200400"/>
            <a:ext cx="11292840" cy="960120"/>
          </a:xfrm>
          <a:prstGeom prst="roundRect">
            <a:avLst>
              <a:gd name="adj" fmla="val 5714"/>
            </a:avLst>
          </a:prstGeom>
          <a:solidFill>
            <a:srgbClr val="FFFFFF"/>
          </a:solidFill>
          <a:ln/>
        </p:spPr>
      </p:sp>
      <p:sp>
        <p:nvSpPr>
          <p:cNvPr id="14" name="Text 12"/>
          <p:cNvSpPr/>
          <p:nvPr/>
        </p:nvSpPr>
        <p:spPr>
          <a:xfrm>
            <a:off x="640080" y="3364992"/>
            <a:ext cx="2377440" cy="640080"/>
          </a:xfrm>
          <a:prstGeom prst="rect">
            <a:avLst/>
          </a:prstGeom>
          <a:noFill/>
          <a:ln/>
        </p:spPr>
        <p:txBody>
          <a:bodyPr wrap="square" lIns="0" tIns="0" rIns="0" bIns="0" rtlCol="0" anchor="ctr"/>
          <a:lstStyle/>
          <a:p>
            <a:pPr indent="0" marL="0">
              <a:buNone/>
            </a:pPr>
            <a:r>
              <a:rPr lang="en-US" sz="1400" b="1" dirty="0">
                <a:solidFill>
                  <a:srgbClr val="1B2A4A"/>
                </a:solidFill>
                <a:latin typeface="Arial" pitchFamily="34" charset="0"/>
                <a:ea typeface="Arial" pitchFamily="34" charset="-122"/>
                <a:cs typeface="Arial" pitchFamily="34" charset="-120"/>
              </a:rPr>
              <a:t>Rajasthan WCD</a:t>
            </a:r>
            <a:endParaRPr lang="en-US" sz="1400" dirty="0"/>
          </a:p>
        </p:txBody>
      </p:sp>
      <p:sp>
        <p:nvSpPr>
          <p:cNvPr id="15" name="Text 13"/>
          <p:cNvSpPr/>
          <p:nvPr/>
        </p:nvSpPr>
        <p:spPr>
          <a:xfrm>
            <a:off x="3108960" y="3364992"/>
            <a:ext cx="2286000" cy="640080"/>
          </a:xfrm>
          <a:prstGeom prst="rect">
            <a:avLst/>
          </a:prstGeom>
          <a:noFill/>
          <a:ln/>
        </p:spPr>
        <p:txBody>
          <a:bodyPr wrap="square" lIns="0" tIns="0" rIns="0" bIns="0" rtlCol="0" anchor="ctr"/>
          <a:lstStyle/>
          <a:p>
            <a:pPr indent="0" marL="0">
              <a:buNone/>
            </a:pPr>
            <a:r>
              <a:rPr lang="en-US" sz="1100" b="1" dirty="0">
                <a:solidFill>
                  <a:srgbClr val="C45C26"/>
                </a:solidFill>
                <a:latin typeface="Arial" pitchFamily="34" charset="0"/>
                <a:ea typeface="Arial" pitchFamily="34" charset="-122"/>
                <a:cs typeface="Arial" pitchFamily="34" charset="-120"/>
              </a:rPr>
              <a:t>SISTER SEED</a:t>
            </a:r>
            <a:endParaRPr lang="en-US" sz="1100" dirty="0"/>
          </a:p>
        </p:txBody>
      </p:sp>
      <p:sp>
        <p:nvSpPr>
          <p:cNvPr id="16" name="Text 14"/>
          <p:cNvSpPr/>
          <p:nvPr/>
        </p:nvSpPr>
        <p:spPr>
          <a:xfrm>
            <a:off x="5486400" y="3364992"/>
            <a:ext cx="6035040" cy="640080"/>
          </a:xfrm>
          <a:prstGeom prst="rect">
            <a:avLst/>
          </a:prstGeom>
          <a:noFill/>
          <a:ln/>
        </p:spPr>
        <p:txBody>
          <a:bodyPr wrap="square" lIns="0" tIns="0" rIns="0" bIns="0" rtlCol="0" anchor="ctr"/>
          <a:lstStyle/>
          <a:p>
            <a:pPr indent="0" marL="0">
              <a:buNone/>
            </a:pPr>
            <a:r>
              <a:rPr lang="en-US" sz="1300" dirty="0">
                <a:solidFill>
                  <a:srgbClr val="5C6B80"/>
                </a:solidFill>
                <a:latin typeface="Arial" pitchFamily="34" charset="0"/>
                <a:ea typeface="Arial" pitchFamily="34" charset="-122"/>
                <a:cs typeface="Arial" pitchFamily="34" charset="-120"/>
              </a:rPr>
              <a:t>Proves AppD can enter a state department. Not a NirmanGrid feature.</a:t>
            </a:r>
            <a:endParaRPr lang="en-US" sz="1300" dirty="0"/>
          </a:p>
        </p:txBody>
      </p:sp>
      <p:sp>
        <p:nvSpPr>
          <p:cNvPr id="17" name="Shape 15"/>
          <p:cNvSpPr/>
          <p:nvPr/>
        </p:nvSpPr>
        <p:spPr>
          <a:xfrm>
            <a:off x="457200" y="4251960"/>
            <a:ext cx="11292840" cy="960120"/>
          </a:xfrm>
          <a:prstGeom prst="roundRect">
            <a:avLst>
              <a:gd name="adj" fmla="val 5714"/>
            </a:avLst>
          </a:prstGeom>
          <a:solidFill>
            <a:srgbClr val="FFFFFF"/>
          </a:solidFill>
          <a:ln/>
        </p:spPr>
      </p:sp>
      <p:sp>
        <p:nvSpPr>
          <p:cNvPr id="18" name="Text 16"/>
          <p:cNvSpPr/>
          <p:nvPr/>
        </p:nvSpPr>
        <p:spPr>
          <a:xfrm>
            <a:off x="640080" y="4416552"/>
            <a:ext cx="2377440" cy="640080"/>
          </a:xfrm>
          <a:prstGeom prst="rect">
            <a:avLst/>
          </a:prstGeom>
          <a:noFill/>
          <a:ln/>
        </p:spPr>
        <p:txBody>
          <a:bodyPr wrap="square" lIns="0" tIns="0" rIns="0" bIns="0" rtlCol="0" anchor="ctr"/>
          <a:lstStyle/>
          <a:p>
            <a:pPr indent="0" marL="0">
              <a:buNone/>
            </a:pPr>
            <a:r>
              <a:rPr lang="en-US" sz="1400" b="1" dirty="0">
                <a:solidFill>
                  <a:srgbClr val="1B2A4A"/>
                </a:solidFill>
                <a:latin typeface="Arial" pitchFamily="34" charset="0"/>
                <a:ea typeface="Arial" pitchFamily="34" charset="-122"/>
                <a:cs typeface="Arial" pitchFamily="34" charset="-120"/>
              </a:rPr>
              <a:t>Haryana AHD</a:t>
            </a:r>
            <a:endParaRPr lang="en-US" sz="1400" dirty="0"/>
          </a:p>
        </p:txBody>
      </p:sp>
      <p:sp>
        <p:nvSpPr>
          <p:cNvPr id="19" name="Text 17"/>
          <p:cNvSpPr/>
          <p:nvPr/>
        </p:nvSpPr>
        <p:spPr>
          <a:xfrm>
            <a:off x="3108960" y="4416552"/>
            <a:ext cx="2286000" cy="640080"/>
          </a:xfrm>
          <a:prstGeom prst="rect">
            <a:avLst/>
          </a:prstGeom>
          <a:noFill/>
          <a:ln/>
        </p:spPr>
        <p:txBody>
          <a:bodyPr wrap="square" lIns="0" tIns="0" rIns="0" bIns="0" rtlCol="0" anchor="ctr"/>
          <a:lstStyle/>
          <a:p>
            <a:pPr indent="0" marL="0">
              <a:buNone/>
            </a:pPr>
            <a:r>
              <a:rPr lang="en-US" sz="1100" b="1" dirty="0">
                <a:solidFill>
                  <a:srgbClr val="C45C26"/>
                </a:solidFill>
                <a:latin typeface="Arial" pitchFamily="34" charset="0"/>
                <a:ea typeface="Arial" pitchFamily="34" charset="-122"/>
                <a:cs typeface="Arial" pitchFamily="34" charset="-120"/>
              </a:rPr>
              <a:t>SISTER SEED</a:t>
            </a:r>
            <a:endParaRPr lang="en-US" sz="1100" dirty="0"/>
          </a:p>
        </p:txBody>
      </p:sp>
      <p:sp>
        <p:nvSpPr>
          <p:cNvPr id="20" name="Text 18"/>
          <p:cNvSpPr/>
          <p:nvPr/>
        </p:nvSpPr>
        <p:spPr>
          <a:xfrm>
            <a:off x="5486400" y="4416552"/>
            <a:ext cx="6035040" cy="640080"/>
          </a:xfrm>
          <a:prstGeom prst="rect">
            <a:avLst/>
          </a:prstGeom>
          <a:noFill/>
          <a:ln/>
        </p:spPr>
        <p:txBody>
          <a:bodyPr wrap="square" lIns="0" tIns="0" rIns="0" bIns="0" rtlCol="0" anchor="ctr"/>
          <a:lstStyle/>
          <a:p>
            <a:pPr indent="0" marL="0">
              <a:buNone/>
            </a:pPr>
            <a:r>
              <a:rPr lang="en-US" sz="1300" dirty="0">
                <a:solidFill>
                  <a:srgbClr val="5C6B80"/>
                </a:solidFill>
                <a:latin typeface="Arial" pitchFamily="34" charset="0"/>
                <a:ea typeface="Arial" pitchFamily="34" charset="-122"/>
                <a:cs typeface="Arial" pitchFamily="34" charset="-120"/>
              </a:rPr>
              <a:t>Same. Credibility of government motion. Off this repo.</a:t>
            </a:r>
            <a:endParaRPr lang="en-US" sz="1300" dirty="0"/>
          </a:p>
        </p:txBody>
      </p:sp>
      <p:sp>
        <p:nvSpPr>
          <p:cNvPr id="21" name="Text 19"/>
          <p:cNvSpPr/>
          <p:nvPr/>
        </p:nvSpPr>
        <p:spPr>
          <a:xfrm>
            <a:off x="365760" y="6446520"/>
            <a:ext cx="9144000" cy="228600"/>
          </a:xfrm>
          <a:prstGeom prst="rect">
            <a:avLst/>
          </a:prstGeom>
          <a:noFill/>
          <a:ln/>
        </p:spPr>
        <p:txBody>
          <a:bodyPr wrap="square" lIns="0" tIns="0" rIns="0" bIns="0" rtlCol="0" anchor="ctr"/>
          <a:lstStyle/>
          <a:p>
            <a:pPr indent="0" marL="0">
              <a:buNone/>
            </a:pPr>
            <a:r>
              <a:rPr lang="en-US" sz="1000" dirty="0">
                <a:solidFill>
                  <a:srgbClr val="5C6B80"/>
                </a:solidFill>
                <a:latin typeface="Arial" pitchFamily="34" charset="0"/>
                <a:ea typeface="Arial" pitchFamily="34" charset="-122"/>
                <a:cs typeface="Arial" pitchFamily="34" charset="-120"/>
              </a:rPr>
              <a:t>NIRMANGRID  ·  TRACK 1  ·  APPD AI</a:t>
            </a:r>
            <a:endParaRPr lang="en-US" sz="1000" dirty="0"/>
          </a:p>
        </p:txBody>
      </p:sp>
      <p:sp>
        <p:nvSpPr>
          <p:cNvPr id="22" name="Text 20"/>
          <p:cNvSpPr/>
          <p:nvPr/>
        </p:nvSpPr>
        <p:spPr>
          <a:xfrm>
            <a:off x="11155680" y="6446520"/>
            <a:ext cx="640080" cy="228600"/>
          </a:xfrm>
          <a:prstGeom prst="rect">
            <a:avLst/>
          </a:prstGeom>
          <a:noFill/>
          <a:ln/>
        </p:spPr>
        <p:txBody>
          <a:bodyPr wrap="square" lIns="0" tIns="0" rIns="0" bIns="0" rtlCol="0" anchor="ctr"/>
          <a:lstStyle/>
          <a:p>
            <a:pPr algn="r" indent="0" marL="0">
              <a:buNone/>
            </a:pPr>
            <a:r>
              <a:rPr lang="en-US" sz="1000" dirty="0">
                <a:solidFill>
                  <a:srgbClr val="5C6B80"/>
                </a:solidFill>
                <a:latin typeface="Arial" pitchFamily="34" charset="0"/>
                <a:ea typeface="Arial" pitchFamily="34" charset="-122"/>
                <a:cs typeface="Arial" pitchFamily="34" charset="-120"/>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A"/>
          </a:solidFill>
          <a:ln/>
        </p:spPr>
      </p:sp>
      <p:sp>
        <p:nvSpPr>
          <p:cNvPr id="3" name="Text 1"/>
          <p:cNvSpPr/>
          <p:nvPr/>
        </p:nvSpPr>
        <p:spPr>
          <a:xfrm>
            <a:off x="457200" y="256032"/>
            <a:ext cx="10972800" cy="228600"/>
          </a:xfrm>
          <a:prstGeom prst="rect">
            <a:avLst/>
          </a:prstGeom>
          <a:noFill/>
          <a:ln/>
        </p:spPr>
        <p:txBody>
          <a:bodyPr wrap="square" lIns="0" tIns="0" rIns="0" bIns="0" rtlCol="0" anchor="ctr"/>
          <a:lstStyle/>
          <a:p>
            <a:pPr indent="0" marL="0">
              <a:buNone/>
            </a:pPr>
            <a:r>
              <a:rPr lang="en-US" sz="1100" b="1" spc="150" kern="0" dirty="0">
                <a:solidFill>
                  <a:srgbClr val="C45C26"/>
                </a:solidFill>
                <a:latin typeface="Arial" pitchFamily="34" charset="0"/>
                <a:ea typeface="Arial" pitchFamily="34" charset="-122"/>
                <a:cs typeface="Arial" pitchFamily="34" charset="-120"/>
              </a:rPr>
              <a:t>PRODUCT IN ONE PICTURE</a:t>
            </a:r>
            <a:endParaRPr lang="en-US" sz="1100" dirty="0"/>
          </a:p>
        </p:txBody>
      </p:sp>
      <p:sp>
        <p:nvSpPr>
          <p:cNvPr id="4" name="Text 2"/>
          <p:cNvSpPr/>
          <p:nvPr/>
        </p:nvSpPr>
        <p:spPr>
          <a:xfrm>
            <a:off x="457200" y="502920"/>
            <a:ext cx="11247120" cy="365760"/>
          </a:xfrm>
          <a:prstGeom prst="rect">
            <a:avLst/>
          </a:prstGeom>
          <a:noFill/>
          <a:ln/>
        </p:spPr>
        <p:txBody>
          <a:bodyPr wrap="square" lIns="0" tIns="0" rIns="0" bIns="0" rtlCol="0" anchor="ctr"/>
          <a:lstStyle/>
          <a:p>
            <a:pPr indent="0" marL="0">
              <a:buNone/>
            </a:pPr>
            <a:r>
              <a:rPr lang="en-US" sz="1800" b="1" dirty="0">
                <a:solidFill>
                  <a:srgbClr val="1B2A4A"/>
                </a:solidFill>
                <a:latin typeface="Arial" pitchFamily="34" charset="0"/>
                <a:ea typeface="Arial" pitchFamily="34" charset="-122"/>
                <a:cs typeface="Arial" pitchFamily="34" charset="-120"/>
              </a:rPr>
              <a:t>Three layers. If the middle one is missing, this is last year's entry.</a:t>
            </a:r>
            <a:endParaRPr lang="en-US" sz="1800" dirty="0"/>
          </a:p>
        </p:txBody>
      </p:sp>
      <p:sp>
        <p:nvSpPr>
          <p:cNvPr id="5" name="Shape 3"/>
          <p:cNvSpPr/>
          <p:nvPr/>
        </p:nvSpPr>
        <p:spPr>
          <a:xfrm>
            <a:off x="457200" y="1097280"/>
            <a:ext cx="3611880" cy="4023360"/>
          </a:xfrm>
          <a:prstGeom prst="roundRect">
            <a:avLst>
              <a:gd name="adj" fmla="val 2025"/>
            </a:avLst>
          </a:prstGeom>
          <a:solidFill>
            <a:srgbClr val="FFFFFF"/>
          </a:solidFill>
          <a:ln/>
        </p:spPr>
      </p:sp>
      <p:sp>
        <p:nvSpPr>
          <p:cNvPr id="6" name="Text 4"/>
          <p:cNvSpPr/>
          <p:nvPr/>
        </p:nvSpPr>
        <p:spPr>
          <a:xfrm>
            <a:off x="685800" y="1325880"/>
            <a:ext cx="3154680" cy="411480"/>
          </a:xfrm>
          <a:prstGeom prst="rect">
            <a:avLst/>
          </a:prstGeom>
          <a:noFill/>
          <a:ln/>
        </p:spPr>
        <p:txBody>
          <a:bodyPr wrap="square" lIns="0" tIns="0" rIns="0" bIns="0" rtlCol="0" anchor="ctr"/>
          <a:lstStyle/>
          <a:p>
            <a:pPr indent="0" marL="0">
              <a:buNone/>
            </a:pPr>
            <a:r>
              <a:rPr lang="en-US" sz="1600" b="1" dirty="0">
                <a:solidFill>
                  <a:srgbClr val="C45C26"/>
                </a:solidFill>
                <a:latin typeface="Arial" pitchFamily="34" charset="0"/>
                <a:ea typeface="Arial" pitchFamily="34" charset="-122"/>
                <a:cs typeface="Arial" pitchFamily="34" charset="-120"/>
              </a:rPr>
              <a:t>01  FIELD</a:t>
            </a:r>
            <a:endParaRPr lang="en-US" sz="1600" dirty="0"/>
          </a:p>
        </p:txBody>
      </p:sp>
      <p:sp>
        <p:nvSpPr>
          <p:cNvPr id="7" name="Text 5"/>
          <p:cNvSpPr/>
          <p:nvPr/>
        </p:nvSpPr>
        <p:spPr>
          <a:xfrm>
            <a:off x="685800" y="1920240"/>
            <a:ext cx="3154680" cy="20116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WhatsApp / web. Photo, pin, voice. Gemini classifies. Ticket in under a minute. SLA clock.</a:t>
            </a:r>
            <a:endParaRPr lang="en-US" sz="1500" dirty="0"/>
          </a:p>
        </p:txBody>
      </p:sp>
      <p:sp>
        <p:nvSpPr>
          <p:cNvPr id="8" name="Text 6"/>
          <p:cNvSpPr/>
          <p:nvPr/>
        </p:nvSpPr>
        <p:spPr>
          <a:xfrm>
            <a:off x="685800" y="4297680"/>
            <a:ext cx="3154680" cy="502920"/>
          </a:xfrm>
          <a:prstGeom prst="rect">
            <a:avLst/>
          </a:prstGeom>
          <a:noFill/>
          <a:ln/>
        </p:spPr>
        <p:txBody>
          <a:bodyPr wrap="square" lIns="0" tIns="0" rIns="0" bIns="0" rtlCol="0" anchor="ctr"/>
          <a:lstStyle/>
          <a:p>
            <a:pPr indent="0" marL="0">
              <a:buNone/>
            </a:pPr>
            <a:r>
              <a:rPr lang="en-US" sz="1100" b="1" dirty="0">
                <a:solidFill>
                  <a:srgbClr val="5C6B80"/>
                </a:solidFill>
                <a:latin typeface="Arial" pitchFamily="34" charset="0"/>
                <a:ea typeface="Arial" pitchFamily="34" charset="-122"/>
                <a:cs typeface="Arial" pitchFamily="34" charset="-120"/>
              </a:rPr>
              <a:t>CITIZEN + ENGINEER</a:t>
            </a:r>
            <a:endParaRPr lang="en-US" sz="1100" dirty="0"/>
          </a:p>
        </p:txBody>
      </p:sp>
      <p:sp>
        <p:nvSpPr>
          <p:cNvPr id="9" name="Shape 7"/>
          <p:cNvSpPr/>
          <p:nvPr/>
        </p:nvSpPr>
        <p:spPr>
          <a:xfrm>
            <a:off x="4297680" y="1097280"/>
            <a:ext cx="3611880" cy="4023360"/>
          </a:xfrm>
          <a:prstGeom prst="roundRect">
            <a:avLst>
              <a:gd name="adj" fmla="val 2025"/>
            </a:avLst>
          </a:prstGeom>
          <a:solidFill>
            <a:srgbClr val="1B2A4A"/>
          </a:solidFill>
          <a:ln/>
        </p:spPr>
      </p:sp>
      <p:sp>
        <p:nvSpPr>
          <p:cNvPr id="10" name="Text 8"/>
          <p:cNvSpPr/>
          <p:nvPr/>
        </p:nvSpPr>
        <p:spPr>
          <a:xfrm>
            <a:off x="4526280" y="1325880"/>
            <a:ext cx="3154680" cy="411480"/>
          </a:xfrm>
          <a:prstGeom prst="rect">
            <a:avLst/>
          </a:prstGeom>
          <a:noFill/>
          <a:ln/>
        </p:spPr>
        <p:txBody>
          <a:bodyPr wrap="square" lIns="0" tIns="0" rIns="0" bIns="0" rtlCol="0" anchor="ctr"/>
          <a:lstStyle/>
          <a:p>
            <a:pPr indent="0" marL="0">
              <a:buNone/>
            </a:pPr>
            <a:r>
              <a:rPr lang="en-US" sz="1600" b="1" dirty="0">
                <a:solidFill>
                  <a:srgbClr val="C45C26"/>
                </a:solidFill>
                <a:latin typeface="Arial" pitchFamily="34" charset="0"/>
                <a:ea typeface="Arial" pitchFamily="34" charset="-122"/>
                <a:cs typeface="Arial" pitchFamily="34" charset="-120"/>
              </a:rPr>
              <a:t>02  PLANNING</a:t>
            </a:r>
            <a:endParaRPr lang="en-US" sz="1600" dirty="0"/>
          </a:p>
        </p:txBody>
      </p:sp>
      <p:sp>
        <p:nvSpPr>
          <p:cNvPr id="11" name="Text 9"/>
          <p:cNvSpPr/>
          <p:nvPr/>
        </p:nvSpPr>
        <p:spPr>
          <a:xfrm>
            <a:off x="4526280" y="1920240"/>
            <a:ext cx="3154680" cy="201168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Cluster scored on Census, OSM/PMGSY gap, MPLADS/PMGSY money already present, NFHS, rain.</a:t>
            </a:r>
            <a:endParaRPr lang="en-US" sz="1500" dirty="0"/>
          </a:p>
        </p:txBody>
      </p:sp>
      <p:sp>
        <p:nvSpPr>
          <p:cNvPr id="12" name="Text 10"/>
          <p:cNvSpPr/>
          <p:nvPr/>
        </p:nvSpPr>
        <p:spPr>
          <a:xfrm>
            <a:off x="4526280" y="4297680"/>
            <a:ext cx="3154680" cy="502920"/>
          </a:xfrm>
          <a:prstGeom prst="rect">
            <a:avLst/>
          </a:prstGeom>
          <a:noFill/>
          <a:ln/>
        </p:spPr>
        <p:txBody>
          <a:bodyPr wrap="square" lIns="0" tIns="0" rIns="0" bIns="0" rtlCol="0" anchor="ctr"/>
          <a:lstStyle/>
          <a:p>
            <a:pPr indent="0" marL="0">
              <a:buNone/>
            </a:pPr>
            <a:r>
              <a:rPr lang="en-US" sz="1100" b="1" dirty="0">
                <a:solidFill>
                  <a:srgbClr val="C5CDD8"/>
                </a:solidFill>
                <a:latin typeface="Arial" pitchFamily="34" charset="0"/>
                <a:ea typeface="Arial" pitchFamily="34" charset="-122"/>
                <a:cs typeface="Arial" pitchFamily="34" charset="-120"/>
              </a:rPr>
              <a:t>EE / PLAN CELL</a:t>
            </a:r>
            <a:endParaRPr lang="en-US" sz="1100" dirty="0"/>
          </a:p>
        </p:txBody>
      </p:sp>
      <p:sp>
        <p:nvSpPr>
          <p:cNvPr id="13" name="Shape 11"/>
          <p:cNvSpPr/>
          <p:nvPr/>
        </p:nvSpPr>
        <p:spPr>
          <a:xfrm>
            <a:off x="8138160" y="1097280"/>
            <a:ext cx="3611880" cy="4023360"/>
          </a:xfrm>
          <a:prstGeom prst="roundRect">
            <a:avLst>
              <a:gd name="adj" fmla="val 2025"/>
            </a:avLst>
          </a:prstGeom>
          <a:solidFill>
            <a:srgbClr val="FFFFFF"/>
          </a:solidFill>
          <a:ln/>
        </p:spPr>
      </p:sp>
      <p:sp>
        <p:nvSpPr>
          <p:cNvPr id="14" name="Text 12"/>
          <p:cNvSpPr/>
          <p:nvPr/>
        </p:nvSpPr>
        <p:spPr>
          <a:xfrm>
            <a:off x="8366760" y="1325880"/>
            <a:ext cx="3154680" cy="411480"/>
          </a:xfrm>
          <a:prstGeom prst="rect">
            <a:avLst/>
          </a:prstGeom>
          <a:noFill/>
          <a:ln/>
        </p:spPr>
        <p:txBody>
          <a:bodyPr wrap="square" lIns="0" tIns="0" rIns="0" bIns="0" rtlCol="0" anchor="ctr"/>
          <a:lstStyle/>
          <a:p>
            <a:pPr indent="0" marL="0">
              <a:buNone/>
            </a:pPr>
            <a:r>
              <a:rPr lang="en-US" sz="1600" b="1" dirty="0">
                <a:solidFill>
                  <a:srgbClr val="C45C26"/>
                </a:solidFill>
                <a:latin typeface="Arial" pitchFamily="34" charset="0"/>
                <a:ea typeface="Arial" pitchFamily="34" charset="-122"/>
                <a:cs typeface="Arial" pitchFamily="34" charset="-120"/>
              </a:rPr>
              <a:t>03  NATIONAL</a:t>
            </a:r>
            <a:endParaRPr lang="en-US" sz="1600" dirty="0"/>
          </a:p>
        </p:txBody>
      </p:sp>
      <p:sp>
        <p:nvSpPr>
          <p:cNvPr id="15" name="Text 13"/>
          <p:cNvSpPr/>
          <p:nvPr/>
        </p:nvSpPr>
        <p:spPr>
          <a:xfrm>
            <a:off x="8366760" y="1920240"/>
            <a:ext cx="3154680" cy="2011680"/>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Delhi + Rajasthan, one protocol. Ranked shelf. 12-line ministry note. DPG, not two bots.</a:t>
            </a:r>
            <a:endParaRPr lang="en-US" sz="1500" dirty="0"/>
          </a:p>
        </p:txBody>
      </p:sp>
      <p:sp>
        <p:nvSpPr>
          <p:cNvPr id="16" name="Text 14"/>
          <p:cNvSpPr/>
          <p:nvPr/>
        </p:nvSpPr>
        <p:spPr>
          <a:xfrm>
            <a:off x="8366760" y="4297680"/>
            <a:ext cx="3154680" cy="502920"/>
          </a:xfrm>
          <a:prstGeom prst="rect">
            <a:avLst/>
          </a:prstGeom>
          <a:noFill/>
          <a:ln/>
        </p:spPr>
        <p:txBody>
          <a:bodyPr wrap="square" lIns="0" tIns="0" rIns="0" bIns="0" rtlCol="0" anchor="ctr"/>
          <a:lstStyle/>
          <a:p>
            <a:pPr indent="0" marL="0">
              <a:buNone/>
            </a:pPr>
            <a:r>
              <a:rPr lang="en-US" sz="1100" b="1" dirty="0">
                <a:solidFill>
                  <a:srgbClr val="5C6B80"/>
                </a:solidFill>
                <a:latin typeface="Arial" pitchFamily="34" charset="0"/>
                <a:ea typeface="Arial" pitchFamily="34" charset="-122"/>
                <a:cs typeface="Arial" pitchFamily="34" charset="-120"/>
              </a:rPr>
              <a:t>MOHUA / MORTH / NITI VIEW</a:t>
            </a:r>
            <a:endParaRPr lang="en-US" sz="1100" dirty="0"/>
          </a:p>
        </p:txBody>
      </p:sp>
      <p:sp>
        <p:nvSpPr>
          <p:cNvPr id="17" name="Text 15"/>
          <p:cNvSpPr/>
          <p:nvPr/>
        </p:nvSpPr>
        <p:spPr>
          <a:xfrm>
            <a:off x="365760" y="6446520"/>
            <a:ext cx="9144000" cy="228600"/>
          </a:xfrm>
          <a:prstGeom prst="rect">
            <a:avLst/>
          </a:prstGeom>
          <a:noFill/>
          <a:ln/>
        </p:spPr>
        <p:txBody>
          <a:bodyPr wrap="square" lIns="0" tIns="0" rIns="0" bIns="0" rtlCol="0" anchor="ctr"/>
          <a:lstStyle/>
          <a:p>
            <a:pPr indent="0" marL="0">
              <a:buNone/>
            </a:pPr>
            <a:r>
              <a:rPr lang="en-US" sz="1000" dirty="0">
                <a:solidFill>
                  <a:srgbClr val="5C6B80"/>
                </a:solidFill>
                <a:latin typeface="Arial" pitchFamily="34" charset="0"/>
                <a:ea typeface="Arial" pitchFamily="34" charset="-122"/>
                <a:cs typeface="Arial" pitchFamily="34" charset="-120"/>
              </a:rPr>
              <a:t>NIRMANGRID  ·  TRACK 1  ·  APPD AI</a:t>
            </a:r>
            <a:endParaRPr lang="en-US" sz="1000" dirty="0"/>
          </a:p>
        </p:txBody>
      </p:sp>
      <p:sp>
        <p:nvSpPr>
          <p:cNvPr id="18" name="Text 16"/>
          <p:cNvSpPr/>
          <p:nvPr/>
        </p:nvSpPr>
        <p:spPr>
          <a:xfrm>
            <a:off x="11155680" y="6446520"/>
            <a:ext cx="640080" cy="228600"/>
          </a:xfrm>
          <a:prstGeom prst="rect">
            <a:avLst/>
          </a:prstGeom>
          <a:noFill/>
          <a:ln/>
        </p:spPr>
        <p:txBody>
          <a:bodyPr wrap="square" lIns="0" tIns="0" rIns="0" bIns="0" rtlCol="0" anchor="ctr"/>
          <a:lstStyle/>
          <a:p>
            <a:pPr algn="r" indent="0" marL="0">
              <a:buNone/>
            </a:pPr>
            <a:r>
              <a:rPr lang="en-US" sz="1000" dirty="0">
                <a:solidFill>
                  <a:srgbClr val="5C6B80"/>
                </a:solidFill>
                <a:latin typeface="Arial" pitchFamily="34" charset="0"/>
                <a:ea typeface="Arial" pitchFamily="34" charset="-122"/>
                <a:cs typeface="Arial" pitchFamily="34" charset="-120"/>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A"/>
          </a:solidFill>
          <a:ln/>
        </p:spPr>
      </p:sp>
      <p:sp>
        <p:nvSpPr>
          <p:cNvPr id="3" name="Text 1"/>
          <p:cNvSpPr/>
          <p:nvPr/>
        </p:nvSpPr>
        <p:spPr>
          <a:xfrm>
            <a:off x="457200" y="256032"/>
            <a:ext cx="10972800" cy="228600"/>
          </a:xfrm>
          <a:prstGeom prst="rect">
            <a:avLst/>
          </a:prstGeom>
          <a:noFill/>
          <a:ln/>
        </p:spPr>
        <p:txBody>
          <a:bodyPr wrap="square" lIns="0" tIns="0" rIns="0" bIns="0" rtlCol="0" anchor="ctr"/>
          <a:lstStyle/>
          <a:p>
            <a:pPr indent="0" marL="0">
              <a:buNone/>
            </a:pPr>
            <a:r>
              <a:rPr lang="en-US" sz="1100" b="1" spc="150" kern="0" dirty="0">
                <a:solidFill>
                  <a:srgbClr val="C45C26"/>
                </a:solidFill>
                <a:latin typeface="Arial" pitchFamily="34" charset="0"/>
                <a:ea typeface="Arial" pitchFamily="34" charset="-122"/>
                <a:cs typeface="Arial" pitchFamily="34" charset="-120"/>
              </a:rPr>
              <a:t>AI THAT CHANGES THE ANSWER   ·   RUBRIC 25%</a:t>
            </a:r>
            <a:endParaRPr lang="en-US" sz="1100" dirty="0"/>
          </a:p>
        </p:txBody>
      </p:sp>
      <p:sp>
        <p:nvSpPr>
          <p:cNvPr id="4" name="Text 2"/>
          <p:cNvSpPr/>
          <p:nvPr/>
        </p:nvSpPr>
        <p:spPr>
          <a:xfrm>
            <a:off x="457200" y="502920"/>
            <a:ext cx="11247120" cy="365760"/>
          </a:xfrm>
          <a:prstGeom prst="rect">
            <a:avLst/>
          </a:prstGeom>
          <a:noFill/>
          <a:ln/>
        </p:spPr>
        <p:txBody>
          <a:bodyPr wrap="square" lIns="0" tIns="0" rIns="0" bIns="0" rtlCol="0" anchor="ctr"/>
          <a:lstStyle/>
          <a:p>
            <a:pPr indent="0" marL="0">
              <a:buNone/>
            </a:pPr>
            <a:r>
              <a:rPr lang="en-US" sz="1800" b="1" dirty="0">
                <a:solidFill>
                  <a:srgbClr val="1B2A4A"/>
                </a:solidFill>
                <a:latin typeface="Arial" pitchFamily="34" charset="0"/>
                <a:ea typeface="Arial" pitchFamily="34" charset="-122"/>
                <a:cs typeface="Arial" pitchFamily="34" charset="-120"/>
              </a:rPr>
              <a:t>Gemini sees and writes. SQL scores. They are not allowed to swap jobs.</a:t>
            </a:r>
            <a:endParaRPr lang="en-US" sz="1800" dirty="0"/>
          </a:p>
        </p:txBody>
      </p:sp>
      <p:sp>
        <p:nvSpPr>
          <p:cNvPr id="5" name="Shape 3"/>
          <p:cNvSpPr/>
          <p:nvPr/>
        </p:nvSpPr>
        <p:spPr>
          <a:xfrm>
            <a:off x="457200" y="1051560"/>
            <a:ext cx="11292840" cy="1024128"/>
          </a:xfrm>
          <a:prstGeom prst="roundRect">
            <a:avLst>
              <a:gd name="adj" fmla="val 5357"/>
            </a:avLst>
          </a:prstGeom>
          <a:solidFill>
            <a:srgbClr val="FFFFFF"/>
          </a:solidFill>
          <a:ln/>
        </p:spPr>
      </p:sp>
      <p:sp>
        <p:nvSpPr>
          <p:cNvPr id="6" name="Shape 4"/>
          <p:cNvSpPr/>
          <p:nvPr/>
        </p:nvSpPr>
        <p:spPr>
          <a:xfrm>
            <a:off x="457200" y="1051560"/>
            <a:ext cx="109728" cy="1024128"/>
          </a:xfrm>
          <a:prstGeom prst="rect">
            <a:avLst/>
          </a:prstGeom>
          <a:solidFill>
            <a:srgbClr val="C45C26"/>
          </a:solidFill>
          <a:ln/>
        </p:spPr>
      </p:sp>
      <p:sp>
        <p:nvSpPr>
          <p:cNvPr id="7" name="Text 5"/>
          <p:cNvSpPr/>
          <p:nvPr/>
        </p:nvSpPr>
        <p:spPr>
          <a:xfrm>
            <a:off x="822960" y="1197864"/>
            <a:ext cx="10698480" cy="292608"/>
          </a:xfrm>
          <a:prstGeom prst="rect">
            <a:avLst/>
          </a:prstGeom>
          <a:noFill/>
          <a:ln/>
        </p:spPr>
        <p:txBody>
          <a:bodyPr wrap="square" lIns="0" tIns="0" rIns="0" bIns="0" rtlCol="0" anchor="ctr"/>
          <a:lstStyle/>
          <a:p>
            <a:pPr indent="0" marL="0">
              <a:buNone/>
            </a:pPr>
            <a:r>
              <a:rPr lang="en-US" sz="1500" b="1" dirty="0">
                <a:solidFill>
                  <a:srgbClr val="1B2A4A"/>
                </a:solidFill>
                <a:latin typeface="Arial" pitchFamily="34" charset="0"/>
                <a:ea typeface="Arial" pitchFamily="34" charset="-122"/>
                <a:cs typeface="Arial" pitchFamily="34" charset="-120"/>
              </a:rPr>
              <a:t>Gemini multimodal</a:t>
            </a:r>
            <a:endParaRPr lang="en-US" sz="1500" dirty="0"/>
          </a:p>
        </p:txBody>
      </p:sp>
      <p:sp>
        <p:nvSpPr>
          <p:cNvPr id="8" name="Text 6"/>
          <p:cNvSpPr/>
          <p:nvPr/>
        </p:nvSpPr>
        <p:spPr>
          <a:xfrm>
            <a:off x="822960" y="1508760"/>
            <a:ext cx="10698480" cy="411480"/>
          </a:xfrm>
          <a:prstGeom prst="rect">
            <a:avLst/>
          </a:prstGeom>
          <a:noFill/>
          <a:ln/>
        </p:spPr>
        <p:txBody>
          <a:bodyPr wrap="square" lIns="0" tIns="0" rIns="0" bIns="0" rtlCol="0" anchor="ctr"/>
          <a:lstStyle/>
          <a:p>
            <a:pPr indent="0" marL="0">
              <a:buNone/>
            </a:pPr>
            <a:r>
              <a:rPr lang="en-US" sz="1300" dirty="0">
                <a:solidFill>
                  <a:srgbClr val="5C6B80"/>
                </a:solidFill>
                <a:latin typeface="Arial" pitchFamily="34" charset="0"/>
                <a:ea typeface="Arial" pitchFamily="34" charset="-122"/>
                <a:cs typeface="Arial" pitchFamily="34" charset="-120"/>
              </a:rPr>
              <a:t>Photo / video → type, severity, language, reason, confidence. No priority number.</a:t>
            </a:r>
            <a:endParaRPr lang="en-US" sz="1300" dirty="0"/>
          </a:p>
        </p:txBody>
      </p:sp>
      <p:sp>
        <p:nvSpPr>
          <p:cNvPr id="9" name="Shape 7"/>
          <p:cNvSpPr/>
          <p:nvPr/>
        </p:nvSpPr>
        <p:spPr>
          <a:xfrm>
            <a:off x="457200" y="2194560"/>
            <a:ext cx="11292840" cy="1024128"/>
          </a:xfrm>
          <a:prstGeom prst="roundRect">
            <a:avLst>
              <a:gd name="adj" fmla="val 5357"/>
            </a:avLst>
          </a:prstGeom>
          <a:solidFill>
            <a:srgbClr val="FFFFFF"/>
          </a:solidFill>
          <a:ln/>
        </p:spPr>
      </p:sp>
      <p:sp>
        <p:nvSpPr>
          <p:cNvPr id="10" name="Shape 8"/>
          <p:cNvSpPr/>
          <p:nvPr/>
        </p:nvSpPr>
        <p:spPr>
          <a:xfrm>
            <a:off x="457200" y="2194560"/>
            <a:ext cx="109728" cy="1024128"/>
          </a:xfrm>
          <a:prstGeom prst="rect">
            <a:avLst/>
          </a:prstGeom>
          <a:solidFill>
            <a:srgbClr val="C45C26"/>
          </a:solidFill>
          <a:ln/>
        </p:spPr>
      </p:sp>
      <p:sp>
        <p:nvSpPr>
          <p:cNvPr id="11" name="Text 9"/>
          <p:cNvSpPr/>
          <p:nvPr/>
        </p:nvSpPr>
        <p:spPr>
          <a:xfrm>
            <a:off x="822960" y="2340864"/>
            <a:ext cx="10698480" cy="292608"/>
          </a:xfrm>
          <a:prstGeom prst="rect">
            <a:avLst/>
          </a:prstGeom>
          <a:noFill/>
          <a:ln/>
        </p:spPr>
        <p:txBody>
          <a:bodyPr wrap="square" lIns="0" tIns="0" rIns="0" bIns="0" rtlCol="0" anchor="ctr"/>
          <a:lstStyle/>
          <a:p>
            <a:pPr indent="0" marL="0">
              <a:buNone/>
            </a:pPr>
            <a:r>
              <a:rPr lang="en-US" sz="1500" b="1" dirty="0">
                <a:solidFill>
                  <a:srgbClr val="1B2A4A"/>
                </a:solidFill>
                <a:latin typeface="Arial" pitchFamily="34" charset="0"/>
                <a:ea typeface="Arial" pitchFamily="34" charset="-122"/>
                <a:cs typeface="Arial" pitchFamily="34" charset="-120"/>
              </a:rPr>
              <a:t>Speech-to-Text + Translation</a:t>
            </a:r>
            <a:endParaRPr lang="en-US" sz="1500" dirty="0"/>
          </a:p>
        </p:txBody>
      </p:sp>
      <p:sp>
        <p:nvSpPr>
          <p:cNvPr id="12" name="Text 10"/>
          <p:cNvSpPr/>
          <p:nvPr/>
        </p:nvSpPr>
        <p:spPr>
          <a:xfrm>
            <a:off x="822960" y="2651760"/>
            <a:ext cx="10698480" cy="411480"/>
          </a:xfrm>
          <a:prstGeom prst="rect">
            <a:avLst/>
          </a:prstGeom>
          <a:noFill/>
          <a:ln/>
        </p:spPr>
        <p:txBody>
          <a:bodyPr wrap="square" lIns="0" tIns="0" rIns="0" bIns="0" rtlCol="0" anchor="ctr"/>
          <a:lstStyle/>
          <a:p>
            <a:pPr indent="0" marL="0">
              <a:buNone/>
            </a:pPr>
            <a:r>
              <a:rPr lang="en-US" sz="1300" dirty="0">
                <a:solidFill>
                  <a:srgbClr val="5C6B80"/>
                </a:solidFill>
                <a:latin typeface="Arial" pitchFamily="34" charset="0"/>
                <a:ea typeface="Arial" pitchFamily="34" charset="-122"/>
                <a:cs typeface="Arial" pitchFamily="34" charset="-120"/>
              </a:rPr>
              <a:t>Hindi / English intake. Rajasthani voice falls back to Hindi STT + Gemini. Confidence labelled.</a:t>
            </a:r>
            <a:endParaRPr lang="en-US" sz="1300" dirty="0"/>
          </a:p>
        </p:txBody>
      </p:sp>
      <p:sp>
        <p:nvSpPr>
          <p:cNvPr id="13" name="Shape 11"/>
          <p:cNvSpPr/>
          <p:nvPr/>
        </p:nvSpPr>
        <p:spPr>
          <a:xfrm>
            <a:off x="457200" y="3337560"/>
            <a:ext cx="11292840" cy="1024128"/>
          </a:xfrm>
          <a:prstGeom prst="roundRect">
            <a:avLst>
              <a:gd name="adj" fmla="val 5357"/>
            </a:avLst>
          </a:prstGeom>
          <a:solidFill>
            <a:srgbClr val="FFFFFF"/>
          </a:solidFill>
          <a:ln/>
        </p:spPr>
      </p:sp>
      <p:sp>
        <p:nvSpPr>
          <p:cNvPr id="14" name="Shape 12"/>
          <p:cNvSpPr/>
          <p:nvPr/>
        </p:nvSpPr>
        <p:spPr>
          <a:xfrm>
            <a:off x="457200" y="3337560"/>
            <a:ext cx="109728" cy="1024128"/>
          </a:xfrm>
          <a:prstGeom prst="rect">
            <a:avLst/>
          </a:prstGeom>
          <a:solidFill>
            <a:srgbClr val="1B2A4A"/>
          </a:solidFill>
          <a:ln/>
        </p:spPr>
      </p:sp>
      <p:sp>
        <p:nvSpPr>
          <p:cNvPr id="15" name="Text 13"/>
          <p:cNvSpPr/>
          <p:nvPr/>
        </p:nvSpPr>
        <p:spPr>
          <a:xfrm>
            <a:off x="822960" y="3483864"/>
            <a:ext cx="10698480" cy="292608"/>
          </a:xfrm>
          <a:prstGeom prst="rect">
            <a:avLst/>
          </a:prstGeom>
          <a:noFill/>
          <a:ln/>
        </p:spPr>
        <p:txBody>
          <a:bodyPr wrap="square" lIns="0" tIns="0" rIns="0" bIns="0" rtlCol="0" anchor="ctr"/>
          <a:lstStyle/>
          <a:p>
            <a:pPr indent="0" marL="0">
              <a:buNone/>
            </a:pPr>
            <a:r>
              <a:rPr lang="en-US" sz="1500" b="1" dirty="0">
                <a:solidFill>
                  <a:srgbClr val="1B2A4A"/>
                </a:solidFill>
                <a:latin typeface="Arial" pitchFamily="34" charset="0"/>
                <a:ea typeface="Arial" pitchFamily="34" charset="-122"/>
                <a:cs typeface="Arial" pitchFamily="34" charset="-120"/>
              </a:rPr>
              <a:t>BigQuery score</a:t>
            </a:r>
            <a:endParaRPr lang="en-US" sz="1500" dirty="0"/>
          </a:p>
        </p:txBody>
      </p:sp>
      <p:sp>
        <p:nvSpPr>
          <p:cNvPr id="16" name="Text 14"/>
          <p:cNvSpPr/>
          <p:nvPr/>
        </p:nvSpPr>
        <p:spPr>
          <a:xfrm>
            <a:off x="822960" y="3794760"/>
            <a:ext cx="10698480" cy="411480"/>
          </a:xfrm>
          <a:prstGeom prst="rect">
            <a:avLst/>
          </a:prstGeom>
          <a:noFill/>
          <a:ln/>
        </p:spPr>
        <p:txBody>
          <a:bodyPr wrap="square" lIns="0" tIns="0" rIns="0" bIns="0" rtlCol="0" anchor="ctr"/>
          <a:lstStyle/>
          <a:p>
            <a:pPr indent="0" marL="0">
              <a:buNone/>
            </a:pPr>
            <a:r>
              <a:rPr lang="en-US" sz="1300" dirty="0">
                <a:solidFill>
                  <a:srgbClr val="5C6B80"/>
                </a:solidFill>
                <a:latin typeface="Arial" pitchFamily="34" charset="0"/>
                <a:ea typeface="Arial" pitchFamily="34" charset="-122"/>
                <a:cs typeface="Arial" pitchFamily="34" charset="-120"/>
              </a:rPr>
              <a:t>Repeat demand 25% · population 20% · vulnerability 10% · gap 20% · existing investment 15% · season 10%.</a:t>
            </a:r>
            <a:endParaRPr lang="en-US" sz="1300" dirty="0"/>
          </a:p>
        </p:txBody>
      </p:sp>
      <p:sp>
        <p:nvSpPr>
          <p:cNvPr id="17" name="Shape 15"/>
          <p:cNvSpPr/>
          <p:nvPr/>
        </p:nvSpPr>
        <p:spPr>
          <a:xfrm>
            <a:off x="457200" y="4480560"/>
            <a:ext cx="11292840" cy="1024128"/>
          </a:xfrm>
          <a:prstGeom prst="roundRect">
            <a:avLst>
              <a:gd name="adj" fmla="val 5357"/>
            </a:avLst>
          </a:prstGeom>
          <a:solidFill>
            <a:srgbClr val="FFFFFF"/>
          </a:solidFill>
          <a:ln/>
        </p:spPr>
      </p:sp>
      <p:sp>
        <p:nvSpPr>
          <p:cNvPr id="18" name="Shape 16"/>
          <p:cNvSpPr/>
          <p:nvPr/>
        </p:nvSpPr>
        <p:spPr>
          <a:xfrm>
            <a:off x="457200" y="4480560"/>
            <a:ext cx="109728" cy="1024128"/>
          </a:xfrm>
          <a:prstGeom prst="rect">
            <a:avLst/>
          </a:prstGeom>
          <a:solidFill>
            <a:srgbClr val="C45C26"/>
          </a:solidFill>
          <a:ln/>
        </p:spPr>
      </p:sp>
      <p:sp>
        <p:nvSpPr>
          <p:cNvPr id="19" name="Text 17"/>
          <p:cNvSpPr/>
          <p:nvPr/>
        </p:nvSpPr>
        <p:spPr>
          <a:xfrm>
            <a:off x="822960" y="4626864"/>
            <a:ext cx="10698480" cy="292608"/>
          </a:xfrm>
          <a:prstGeom prst="rect">
            <a:avLst/>
          </a:prstGeom>
          <a:noFill/>
          <a:ln/>
        </p:spPr>
        <p:txBody>
          <a:bodyPr wrap="square" lIns="0" tIns="0" rIns="0" bIns="0" rtlCol="0" anchor="ctr"/>
          <a:lstStyle/>
          <a:p>
            <a:pPr indent="0" marL="0">
              <a:buNone/>
            </a:pPr>
            <a:r>
              <a:rPr lang="en-US" sz="1500" b="1" dirty="0">
                <a:solidFill>
                  <a:srgbClr val="1B2A4A"/>
                </a:solidFill>
                <a:latin typeface="Arial" pitchFamily="34" charset="0"/>
                <a:ea typeface="Arial" pitchFamily="34" charset="-122"/>
                <a:cs typeface="Arial" pitchFamily="34" charset="-120"/>
              </a:rPr>
              <a:t>Gemini ministry note</a:t>
            </a:r>
            <a:endParaRPr lang="en-US" sz="1500" dirty="0"/>
          </a:p>
        </p:txBody>
      </p:sp>
      <p:sp>
        <p:nvSpPr>
          <p:cNvPr id="20" name="Text 18"/>
          <p:cNvSpPr/>
          <p:nvPr/>
        </p:nvSpPr>
        <p:spPr>
          <a:xfrm>
            <a:off x="822960" y="4937760"/>
            <a:ext cx="10698480" cy="411480"/>
          </a:xfrm>
          <a:prstGeom prst="rect">
            <a:avLst/>
          </a:prstGeom>
          <a:noFill/>
          <a:ln/>
        </p:spPr>
        <p:txBody>
          <a:bodyPr wrap="square" lIns="0" tIns="0" rIns="0" bIns="0" rtlCol="0" anchor="ctr"/>
          <a:lstStyle/>
          <a:p>
            <a:pPr indent="0" marL="0">
              <a:buNone/>
            </a:pPr>
            <a:r>
              <a:rPr lang="en-US" sz="1300" dirty="0">
                <a:solidFill>
                  <a:srgbClr val="5C6B80"/>
                </a:solidFill>
                <a:latin typeface="Arial" pitchFamily="34" charset="0"/>
                <a:ea typeface="Arial" pitchFamily="34" charset="-122"/>
                <a:cs typeface="Arial" pitchFamily="34" charset="-120"/>
              </a:rPr>
              <a:t>12 lines written from the score JSON. If Gemini and SQL disagree, SQL wins.</a:t>
            </a:r>
            <a:endParaRPr lang="en-US" sz="1300" dirty="0"/>
          </a:p>
        </p:txBody>
      </p:sp>
      <p:sp>
        <p:nvSpPr>
          <p:cNvPr id="21" name="Text 19"/>
          <p:cNvSpPr/>
          <p:nvPr/>
        </p:nvSpPr>
        <p:spPr>
          <a:xfrm>
            <a:off x="365760" y="6446520"/>
            <a:ext cx="9144000" cy="228600"/>
          </a:xfrm>
          <a:prstGeom prst="rect">
            <a:avLst/>
          </a:prstGeom>
          <a:noFill/>
          <a:ln/>
        </p:spPr>
        <p:txBody>
          <a:bodyPr wrap="square" lIns="0" tIns="0" rIns="0" bIns="0" rtlCol="0" anchor="ctr"/>
          <a:lstStyle/>
          <a:p>
            <a:pPr indent="0" marL="0">
              <a:buNone/>
            </a:pPr>
            <a:r>
              <a:rPr lang="en-US" sz="1000" dirty="0">
                <a:solidFill>
                  <a:srgbClr val="5C6B80"/>
                </a:solidFill>
                <a:latin typeface="Arial" pitchFamily="34" charset="0"/>
                <a:ea typeface="Arial" pitchFamily="34" charset="-122"/>
                <a:cs typeface="Arial" pitchFamily="34" charset="-120"/>
              </a:rPr>
              <a:t>NIRMANGRID  ·  TRACK 1  ·  APPD AI</a:t>
            </a:r>
            <a:endParaRPr lang="en-US" sz="1000" dirty="0"/>
          </a:p>
        </p:txBody>
      </p:sp>
      <p:sp>
        <p:nvSpPr>
          <p:cNvPr id="22" name="Text 20"/>
          <p:cNvSpPr/>
          <p:nvPr/>
        </p:nvSpPr>
        <p:spPr>
          <a:xfrm>
            <a:off x="11155680" y="6446520"/>
            <a:ext cx="640080" cy="228600"/>
          </a:xfrm>
          <a:prstGeom prst="rect">
            <a:avLst/>
          </a:prstGeom>
          <a:noFill/>
          <a:ln/>
        </p:spPr>
        <p:txBody>
          <a:bodyPr wrap="square" lIns="0" tIns="0" rIns="0" bIns="0" rtlCol="0" anchor="ctr"/>
          <a:lstStyle/>
          <a:p>
            <a:pPr algn="r" indent="0" marL="0">
              <a:buNone/>
            </a:pPr>
            <a:r>
              <a:rPr lang="en-US" sz="1000" dirty="0">
                <a:solidFill>
                  <a:srgbClr val="5C6B80"/>
                </a:solidFill>
                <a:latin typeface="Arial" pitchFamily="34" charset="0"/>
                <a:ea typeface="Arial" pitchFamily="34" charset="-122"/>
                <a:cs typeface="Arial" pitchFamily="34" charset="-120"/>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A"/>
          </a:solidFill>
          <a:ln/>
        </p:spPr>
      </p:sp>
      <p:sp>
        <p:nvSpPr>
          <p:cNvPr id="3" name="Text 1"/>
          <p:cNvSpPr/>
          <p:nvPr/>
        </p:nvSpPr>
        <p:spPr>
          <a:xfrm>
            <a:off x="457200" y="256032"/>
            <a:ext cx="10972800" cy="228600"/>
          </a:xfrm>
          <a:prstGeom prst="rect">
            <a:avLst/>
          </a:prstGeom>
          <a:noFill/>
          <a:ln/>
        </p:spPr>
        <p:txBody>
          <a:bodyPr wrap="square" lIns="0" tIns="0" rIns="0" bIns="0" rtlCol="0" anchor="ctr"/>
          <a:lstStyle/>
          <a:p>
            <a:pPr indent="0" marL="0">
              <a:buNone/>
            </a:pPr>
            <a:r>
              <a:rPr lang="en-US" sz="1100" b="1" spc="150" kern="0" dirty="0">
                <a:solidFill>
                  <a:srgbClr val="C45C26"/>
                </a:solidFill>
                <a:latin typeface="Arial" pitchFamily="34" charset="0"/>
                <a:ea typeface="Arial" pitchFamily="34" charset="-122"/>
                <a:cs typeface="Arial" pitchFamily="34" charset="-120"/>
              </a:rPr>
              <a:t>PLANNING LAYER ON PUBLIC DATA   ·   NO INVENTED APIS</a:t>
            </a:r>
            <a:endParaRPr lang="en-US" sz="1100" dirty="0"/>
          </a:p>
        </p:txBody>
      </p:sp>
      <p:sp>
        <p:nvSpPr>
          <p:cNvPr id="4" name="Text 2"/>
          <p:cNvSpPr/>
          <p:nvPr/>
        </p:nvSpPr>
        <p:spPr>
          <a:xfrm>
            <a:off x="457200" y="502920"/>
            <a:ext cx="11247120" cy="320040"/>
          </a:xfrm>
          <a:prstGeom prst="rect">
            <a:avLst/>
          </a:prstGeom>
          <a:noFill/>
          <a:ln/>
        </p:spPr>
        <p:txBody>
          <a:bodyPr wrap="square" lIns="0" tIns="0" rIns="0" bIns="0" rtlCol="0" anchor="ctr"/>
          <a:lstStyle/>
          <a:p>
            <a:pPr indent="0" marL="0">
              <a:buNone/>
            </a:pPr>
            <a:r>
              <a:rPr lang="en-US" sz="1800" b="1" dirty="0">
                <a:solidFill>
                  <a:srgbClr val="1B2A4A"/>
                </a:solidFill>
                <a:latin typeface="Arial" pitchFamily="34" charset="0"/>
                <a:ea typeface="Arial" pitchFamily="34" charset="-122"/>
                <a:cs typeface="Arial" pitchFamily="34" charset="-120"/>
              </a:rPr>
              <a:t>If it is not in NirmanGrid-Datasets.xlsx, it is not in the product.</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92840" cy="4754880"/>
        </p:xfrm>
        <a:graphic>
          <a:graphicData uri="http://schemas.openxmlformats.org/drawingml/2006/table">
            <a:tbl>
              <a:tblPr/>
              <a:tblGrid>
                <a:gridCol w="3749040"/>
                <a:gridCol w="3931920"/>
                <a:gridCol w="3611880"/>
              </a:tblGrid>
              <a:tr h="59436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Source</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1B2A4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Vintage / access</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1B2A4A"/>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Job in the score</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1B2A4A"/>
                    </a:solidFill>
                  </a:tcPr>
                </a:tc>
              </a:tr>
              <a:tr h="594360">
                <a:tc>
                  <a:txBody>
                    <a:bodyPr/>
                    <a:lstStyle/>
                    <a:p>
                      <a:pPr algn="l" indent="0" marL="0">
                        <a:buNone/>
                      </a:pPr>
                      <a:r>
                        <a:rPr lang="en-US" sz="1100" b="1" dirty="0">
                          <a:solidFill>
                            <a:srgbClr val="1B2A4A"/>
                          </a:solidFill>
                          <a:latin typeface="Arial" pitchFamily="34" charset="0"/>
                          <a:ea typeface="Arial" pitchFamily="34" charset="-122"/>
                          <a:cs typeface="Arial" pitchFamily="34" charset="-120"/>
                        </a:rPr>
                        <a:t>Census 2011 PCA (ORGI)</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Public · labelled 2011</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Population pressure</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r>
              <a:tr h="594360">
                <a:tc>
                  <a:txBody>
                    <a:bodyPr/>
                    <a:lstStyle/>
                    <a:p>
                      <a:pPr algn="l" indent="0" marL="0">
                        <a:buNone/>
                      </a:pPr>
                      <a:r>
                        <a:rPr lang="en-US" sz="1100" b="1" dirty="0">
                          <a:solidFill>
                            <a:srgbClr val="1B2A4A"/>
                          </a:solidFill>
                          <a:latin typeface="Arial" pitchFamily="34" charset="0"/>
                          <a:ea typeface="Arial" pitchFamily="34" charset="-122"/>
                          <a:cs typeface="Arial" pitchFamily="34" charset="-120"/>
                        </a:rPr>
                        <a:t>OSM highways (ODbL)</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Live extract · not PWD inventory</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Snap + gap</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FFFFFF"/>
                    </a:solidFill>
                  </a:tcPr>
                </a:tc>
              </a:tr>
              <a:tr h="594360">
                <a:tc>
                  <a:txBody>
                    <a:bodyPr/>
                    <a:lstStyle/>
                    <a:p>
                      <a:pPr algn="l" indent="0" marL="0">
                        <a:buNone/>
                      </a:pPr>
                      <a:r>
                        <a:rPr lang="en-US" sz="1100" b="1" dirty="0">
                          <a:solidFill>
                            <a:srgbClr val="1B2A4A"/>
                          </a:solidFill>
                          <a:latin typeface="Arial" pitchFamily="34" charset="0"/>
                          <a:ea typeface="Arial" pitchFamily="34" charset="-122"/>
                          <a:cs typeface="Arial" pitchFamily="34" charset="-120"/>
                        </a:rPr>
                        <a:t>PMGSY GeoSadak (MoRD OGL)</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Open Data portal / Datameet</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Rural investment / gap</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r>
              <a:tr h="594360">
                <a:tc>
                  <a:txBody>
                    <a:bodyPr/>
                    <a:lstStyle/>
                    <a:p>
                      <a:pPr algn="l" indent="0" marL="0">
                        <a:buNone/>
                      </a:pPr>
                      <a:r>
                        <a:rPr lang="en-US" sz="1100" b="1" dirty="0">
                          <a:solidFill>
                            <a:srgbClr val="1B2A4A"/>
                          </a:solidFill>
                          <a:latin typeface="Arial" pitchFamily="34" charset="0"/>
                          <a:ea typeface="Arial" pitchFamily="34" charset="-122"/>
                          <a:cs typeface="Arial" pitchFamily="34" charset="-120"/>
                        </a:rPr>
                        <a:t>MPLADS dashboard (MoSPI)</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Portal snapshot · no bulk API</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Work already sanctioned</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FFFFFF"/>
                    </a:solidFill>
                  </a:tcPr>
                </a:tc>
              </a:tr>
              <a:tr h="594360">
                <a:tc>
                  <a:txBody>
                    <a:bodyPr/>
                    <a:lstStyle/>
                    <a:p>
                      <a:pPr algn="l" indent="0" marL="0">
                        <a:buNone/>
                      </a:pPr>
                      <a:r>
                        <a:rPr lang="en-US" sz="1100" b="1" dirty="0">
                          <a:solidFill>
                            <a:srgbClr val="1B2A4A"/>
                          </a:solidFill>
                          <a:latin typeface="Arial" pitchFamily="34" charset="0"/>
                          <a:ea typeface="Arial" pitchFamily="34" charset="-122"/>
                          <a:cs typeface="Arial" pitchFamily="34" charset="-120"/>
                        </a:rPr>
                        <a:t>NFHS-5 district (data.gov.in)</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2019–21 factsheets</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Vulnerability overlay</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r>
              <a:tr h="594360">
                <a:tc>
                  <a:txBody>
                    <a:bodyPr/>
                    <a:lstStyle/>
                    <a:p>
                      <a:pPr algn="l" indent="0" marL="0">
                        <a:buNone/>
                      </a:pPr>
                      <a:r>
                        <a:rPr lang="en-US" sz="1100" b="1" dirty="0">
                          <a:solidFill>
                            <a:srgbClr val="1B2A4A"/>
                          </a:solidFill>
                          <a:latin typeface="Arial" pitchFamily="34" charset="0"/>
                          <a:ea typeface="Arial" pitchFamily="34" charset="-122"/>
                          <a:cs typeface="Arial" pitchFamily="34" charset="-120"/>
                        </a:rPr>
                        <a:t>PWD Sewa public totals</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Category mix only · no ticket dump</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Calibrate SAMPLE events</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FFFFFF"/>
                    </a:solidFill>
                  </a:tcPr>
                </a:tc>
              </a:tr>
              <a:tr h="594360">
                <a:tc>
                  <a:txBody>
                    <a:bodyPr/>
                    <a:lstStyle/>
                    <a:p>
                      <a:pPr algn="l" indent="0" marL="0">
                        <a:buNone/>
                      </a:pPr>
                      <a:r>
                        <a:rPr lang="en-US" sz="1100" b="1" dirty="0">
                          <a:solidFill>
                            <a:srgbClr val="1B2A4A"/>
                          </a:solidFill>
                          <a:latin typeface="Arial" pitchFamily="34" charset="0"/>
                          <a:ea typeface="Arial" pitchFamily="34" charset="-122"/>
                          <a:cs typeface="Arial" pitchFamily="34" charset="-120"/>
                        </a:rPr>
                        <a:t>SAMPLE events</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Generated · every row stamped</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c>
                  <a:txBody>
                    <a:bodyPr/>
                    <a:lstStyle/>
                    <a:p>
                      <a:pPr algn="l" indent="0" marL="0">
                        <a:buNone/>
                      </a:pPr>
                      <a:r>
                        <a:rPr lang="en-US" sz="1100" dirty="0">
                          <a:solidFill>
                            <a:srgbClr val="5C6B80"/>
                          </a:solidFill>
                          <a:latin typeface="Arial" pitchFamily="34" charset="0"/>
                          <a:ea typeface="Arial" pitchFamily="34" charset="-122"/>
                          <a:cs typeface="Arial" pitchFamily="34" charset="-120"/>
                        </a:rPr>
                        <a:t>Demo flow — not real complainants</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6350" cap="flat" cmpd="sng" algn="ctr">
                      <a:solidFill>
                        <a:srgbClr val="D7D1C4"/>
                      </a:solidFill>
                      <a:prstDash val="solid"/>
                      <a:round/>
                      <a:headEnd type="none" w="med" len="med"/>
                      <a:tailEnd type="none" w="med" len="med"/>
                    </a:lnT>
                    <a:lnB w="0" cap="flat" cmpd="sng" algn="ctr">
                      <a:noFill/>
                    </a:lnB>
                    <a:solidFill>
                      <a:srgbClr val="EFEBE1"/>
                    </a:solidFill>
                  </a:tcPr>
                </a:tc>
              </a:tr>
            </a:tbl>
          </a:graphicData>
        </a:graphic>
      </p:graphicFrame>
      <p:sp>
        <p:nvSpPr>
          <p:cNvPr id="6" name="Text 3"/>
          <p:cNvSpPr/>
          <p:nvPr/>
        </p:nvSpPr>
        <p:spPr>
          <a:xfrm>
            <a:off x="365760" y="6446520"/>
            <a:ext cx="9144000" cy="228600"/>
          </a:xfrm>
          <a:prstGeom prst="rect">
            <a:avLst/>
          </a:prstGeom>
          <a:noFill/>
          <a:ln/>
        </p:spPr>
        <p:txBody>
          <a:bodyPr wrap="square" lIns="0" tIns="0" rIns="0" bIns="0" rtlCol="0" anchor="ctr"/>
          <a:lstStyle/>
          <a:p>
            <a:pPr indent="0" marL="0">
              <a:buNone/>
            </a:pPr>
            <a:r>
              <a:rPr lang="en-US" sz="1000" dirty="0">
                <a:solidFill>
                  <a:srgbClr val="5C6B80"/>
                </a:solidFill>
                <a:latin typeface="Arial" pitchFamily="34" charset="0"/>
                <a:ea typeface="Arial" pitchFamily="34" charset="-122"/>
                <a:cs typeface="Arial" pitchFamily="34" charset="-120"/>
              </a:rPr>
              <a:t>NIRMANGRID  ·  TRACK 1  ·  APPD AI</a:t>
            </a:r>
            <a:endParaRPr lang="en-US" sz="1000" dirty="0"/>
          </a:p>
        </p:txBody>
      </p:sp>
      <p:sp>
        <p:nvSpPr>
          <p:cNvPr id="7" name="Text 4"/>
          <p:cNvSpPr/>
          <p:nvPr/>
        </p:nvSpPr>
        <p:spPr>
          <a:xfrm>
            <a:off x="11155680" y="6446520"/>
            <a:ext cx="640080" cy="228600"/>
          </a:xfrm>
          <a:prstGeom prst="rect">
            <a:avLst/>
          </a:prstGeom>
          <a:noFill/>
          <a:ln/>
        </p:spPr>
        <p:txBody>
          <a:bodyPr wrap="square" lIns="0" tIns="0" rIns="0" bIns="0" rtlCol="0" anchor="ctr"/>
          <a:lstStyle/>
          <a:p>
            <a:pPr algn="r" indent="0" marL="0">
              <a:buNone/>
            </a:pPr>
            <a:r>
              <a:rPr lang="en-US" sz="1000" dirty="0">
                <a:solidFill>
                  <a:srgbClr val="5C6B80"/>
                </a:solidFill>
                <a:latin typeface="Arial" pitchFamily="34" charset="0"/>
                <a:ea typeface="Arial" pitchFamily="34" charset="-122"/>
                <a:cs typeface="Arial" pitchFamily="34" charset="-120"/>
              </a:rPr>
              <a:t>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A"/>
          </a:solidFill>
          <a:ln/>
        </p:spPr>
      </p:sp>
      <p:sp>
        <p:nvSpPr>
          <p:cNvPr id="3" name="Text 1"/>
          <p:cNvSpPr/>
          <p:nvPr/>
        </p:nvSpPr>
        <p:spPr>
          <a:xfrm>
            <a:off x="457200" y="256032"/>
            <a:ext cx="10972800" cy="228600"/>
          </a:xfrm>
          <a:prstGeom prst="rect">
            <a:avLst/>
          </a:prstGeom>
          <a:noFill/>
          <a:ln/>
        </p:spPr>
        <p:txBody>
          <a:bodyPr wrap="square" lIns="0" tIns="0" rIns="0" bIns="0" rtlCol="0" anchor="ctr"/>
          <a:lstStyle/>
          <a:p>
            <a:pPr indent="0" marL="0">
              <a:buNone/>
            </a:pPr>
            <a:r>
              <a:rPr lang="en-US" sz="1100" b="1" spc="150" kern="0" dirty="0">
                <a:solidFill>
                  <a:srgbClr val="C45C26"/>
                </a:solidFill>
                <a:latin typeface="Arial" pitchFamily="34" charset="0"/>
                <a:ea typeface="Arial" pitchFamily="34" charset="-122"/>
                <a:cs typeface="Arial" pitchFamily="34" charset="-120"/>
              </a:rPr>
              <a:t>THE LIVE LOOP   ·   FOUR MINUTES</a:t>
            </a:r>
            <a:endParaRPr lang="en-US" sz="1100" dirty="0"/>
          </a:p>
        </p:txBody>
      </p:sp>
      <p:sp>
        <p:nvSpPr>
          <p:cNvPr id="4" name="Text 2"/>
          <p:cNvSpPr/>
          <p:nvPr/>
        </p:nvSpPr>
        <p:spPr>
          <a:xfrm>
            <a:off x="457200" y="502920"/>
            <a:ext cx="11247120" cy="365760"/>
          </a:xfrm>
          <a:prstGeom prst="rect">
            <a:avLst/>
          </a:prstGeom>
          <a:noFill/>
          <a:ln/>
        </p:spPr>
        <p:txBody>
          <a:bodyPr wrap="square" lIns="0" tIns="0" rIns="0" bIns="0" rtlCol="0" anchor="ctr"/>
          <a:lstStyle/>
          <a:p>
            <a:pPr indent="0" marL="0">
              <a:buNone/>
            </a:pPr>
            <a:r>
              <a:rPr lang="en-US" sz="1800" b="1" dirty="0">
                <a:solidFill>
                  <a:srgbClr val="1B2A4A"/>
                </a:solidFill>
                <a:latin typeface="Arial" pitchFamily="34" charset="0"/>
                <a:ea typeface="Arial" pitchFamily="34" charset="-122"/>
                <a:cs typeface="Arial" pitchFamily="34" charset="-120"/>
              </a:rPr>
              <a:t>Barmer voice + photo → cluster → score → national shelf → citizen update.</a:t>
            </a:r>
            <a:endParaRPr lang="en-US" sz="1800" dirty="0"/>
          </a:p>
        </p:txBody>
      </p:sp>
      <p:sp>
        <p:nvSpPr>
          <p:cNvPr id="5" name="Shape 3"/>
          <p:cNvSpPr/>
          <p:nvPr/>
        </p:nvSpPr>
        <p:spPr>
          <a:xfrm>
            <a:off x="457200" y="1051560"/>
            <a:ext cx="3611880" cy="2148840"/>
          </a:xfrm>
          <a:prstGeom prst="roundRect">
            <a:avLst>
              <a:gd name="adj" fmla="val 3404"/>
            </a:avLst>
          </a:prstGeom>
          <a:solidFill>
            <a:srgbClr val="FFFFFF"/>
          </a:solidFill>
          <a:ln/>
        </p:spPr>
      </p:sp>
      <p:sp>
        <p:nvSpPr>
          <p:cNvPr id="6" name="Text 4"/>
          <p:cNvSpPr/>
          <p:nvPr/>
        </p:nvSpPr>
        <p:spPr>
          <a:xfrm>
            <a:off x="640080" y="1234440"/>
            <a:ext cx="502920" cy="411480"/>
          </a:xfrm>
          <a:prstGeom prst="rect">
            <a:avLst/>
          </a:prstGeom>
          <a:noFill/>
          <a:ln/>
        </p:spPr>
        <p:txBody>
          <a:bodyPr wrap="square" lIns="0" tIns="0" rIns="0" bIns="0" rtlCol="0" anchor="ctr"/>
          <a:lstStyle/>
          <a:p>
            <a:pPr indent="0" marL="0">
              <a:buNone/>
            </a:pPr>
            <a:r>
              <a:rPr lang="en-US" sz="2200" b="1" dirty="0">
                <a:solidFill>
                  <a:srgbClr val="C45C26"/>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1188720" y="1307592"/>
            <a:ext cx="2651760" cy="320040"/>
          </a:xfrm>
          <a:prstGeom prst="rect">
            <a:avLst/>
          </a:prstGeom>
          <a:noFill/>
          <a:ln/>
        </p:spPr>
        <p:txBody>
          <a:bodyPr wrap="square" lIns="0" tIns="0" rIns="0" bIns="0" rtlCol="0" anchor="ctr"/>
          <a:lstStyle/>
          <a:p>
            <a:pPr indent="0" marL="0">
              <a:buNone/>
            </a:pPr>
            <a:r>
              <a:rPr lang="en-US" sz="1200" b="1" dirty="0">
                <a:solidFill>
                  <a:srgbClr val="1B2A4A"/>
                </a:solidFill>
                <a:latin typeface="Arial" pitchFamily="34" charset="0"/>
                <a:ea typeface="Arial" pitchFamily="34" charset="-122"/>
                <a:cs typeface="Arial" pitchFamily="34" charset="-120"/>
              </a:rPr>
              <a:t>CITIZEN</a:t>
            </a:r>
            <a:endParaRPr lang="en-US" sz="1200" dirty="0"/>
          </a:p>
        </p:txBody>
      </p:sp>
      <p:sp>
        <p:nvSpPr>
          <p:cNvPr id="8" name="Text 6"/>
          <p:cNvSpPr/>
          <p:nvPr/>
        </p:nvSpPr>
        <p:spPr>
          <a:xfrm>
            <a:off x="685800" y="1828800"/>
            <a:ext cx="3154680" cy="1143000"/>
          </a:xfrm>
          <a:prstGeom prst="rect">
            <a:avLst/>
          </a:prstGeom>
          <a:noFill/>
          <a:ln/>
        </p:spPr>
        <p:txBody>
          <a:bodyPr wrap="square" lIns="0" tIns="0" rIns="0" bIns="0" rtlCol="0" anchor="ctr"/>
          <a:lstStyle/>
          <a:p>
            <a:pPr indent="0" marL="0">
              <a:buNone/>
            </a:pPr>
            <a:r>
              <a:rPr lang="en-US" sz="1400" dirty="0">
                <a:solidFill>
                  <a:srgbClr val="5C6B80"/>
                </a:solidFill>
                <a:latin typeface="Arial" pitchFamily="34" charset="0"/>
                <a:ea typeface="Arial" pitchFamily="34" charset="-122"/>
                <a:cs typeface="Arial" pitchFamily="34" charset="-120"/>
              </a:rPr>
              <a:t>Marwari / Hindi voice + culvert photo + pin. Ticket in 10 seconds.</a:t>
            </a:r>
            <a:endParaRPr lang="en-US" sz="1400" dirty="0"/>
          </a:p>
        </p:txBody>
      </p:sp>
      <p:sp>
        <p:nvSpPr>
          <p:cNvPr id="9" name="Shape 7"/>
          <p:cNvSpPr/>
          <p:nvPr/>
        </p:nvSpPr>
        <p:spPr>
          <a:xfrm>
            <a:off x="4297680" y="1051560"/>
            <a:ext cx="3611880" cy="2148840"/>
          </a:xfrm>
          <a:prstGeom prst="roundRect">
            <a:avLst>
              <a:gd name="adj" fmla="val 3404"/>
            </a:avLst>
          </a:prstGeom>
          <a:solidFill>
            <a:srgbClr val="FFFFFF"/>
          </a:solidFill>
          <a:ln/>
        </p:spPr>
      </p:sp>
      <p:sp>
        <p:nvSpPr>
          <p:cNvPr id="10" name="Text 8"/>
          <p:cNvSpPr/>
          <p:nvPr/>
        </p:nvSpPr>
        <p:spPr>
          <a:xfrm>
            <a:off x="4480560" y="1234440"/>
            <a:ext cx="502920" cy="411480"/>
          </a:xfrm>
          <a:prstGeom prst="rect">
            <a:avLst/>
          </a:prstGeom>
          <a:noFill/>
          <a:ln/>
        </p:spPr>
        <p:txBody>
          <a:bodyPr wrap="square" lIns="0" tIns="0" rIns="0" bIns="0" rtlCol="0" anchor="ctr"/>
          <a:lstStyle/>
          <a:p>
            <a:pPr indent="0" marL="0">
              <a:buNone/>
            </a:pPr>
            <a:r>
              <a:rPr lang="en-US" sz="2200" b="1" dirty="0">
                <a:solidFill>
                  <a:srgbClr val="C45C26"/>
                </a:solidFill>
                <a:latin typeface="Arial" pitchFamily="34" charset="0"/>
                <a:ea typeface="Arial" pitchFamily="34" charset="-122"/>
                <a:cs typeface="Arial" pitchFamily="34" charset="-120"/>
              </a:rPr>
              <a:t>2</a:t>
            </a:r>
            <a:endParaRPr lang="en-US" sz="2200" dirty="0"/>
          </a:p>
        </p:txBody>
      </p:sp>
      <p:sp>
        <p:nvSpPr>
          <p:cNvPr id="11" name="Text 9"/>
          <p:cNvSpPr/>
          <p:nvPr/>
        </p:nvSpPr>
        <p:spPr>
          <a:xfrm>
            <a:off x="5029200" y="1307592"/>
            <a:ext cx="2651760" cy="320040"/>
          </a:xfrm>
          <a:prstGeom prst="rect">
            <a:avLst/>
          </a:prstGeom>
          <a:noFill/>
          <a:ln/>
        </p:spPr>
        <p:txBody>
          <a:bodyPr wrap="square" lIns="0" tIns="0" rIns="0" bIns="0" rtlCol="0" anchor="ctr"/>
          <a:lstStyle/>
          <a:p>
            <a:pPr indent="0" marL="0">
              <a:buNone/>
            </a:pPr>
            <a:r>
              <a:rPr lang="en-US" sz="1200" b="1" dirty="0">
                <a:solidFill>
                  <a:srgbClr val="1B2A4A"/>
                </a:solidFill>
                <a:latin typeface="Arial" pitchFamily="34" charset="0"/>
                <a:ea typeface="Arial" pitchFamily="34" charset="-122"/>
                <a:cs typeface="Arial" pitchFamily="34" charset="-120"/>
              </a:rPr>
              <a:t>GEMINI</a:t>
            </a:r>
            <a:endParaRPr lang="en-US" sz="1200" dirty="0"/>
          </a:p>
        </p:txBody>
      </p:sp>
      <p:sp>
        <p:nvSpPr>
          <p:cNvPr id="12" name="Text 10"/>
          <p:cNvSpPr/>
          <p:nvPr/>
        </p:nvSpPr>
        <p:spPr>
          <a:xfrm>
            <a:off x="4526280" y="1828800"/>
            <a:ext cx="3154680" cy="1143000"/>
          </a:xfrm>
          <a:prstGeom prst="rect">
            <a:avLst/>
          </a:prstGeom>
          <a:noFill/>
          <a:ln/>
        </p:spPr>
        <p:txBody>
          <a:bodyPr wrap="square" lIns="0" tIns="0" rIns="0" bIns="0" rtlCol="0" anchor="ctr"/>
          <a:lstStyle/>
          <a:p>
            <a:pPr indent="0" marL="0">
              <a:buNone/>
            </a:pPr>
            <a:r>
              <a:rPr lang="en-US" sz="1400" dirty="0">
                <a:solidFill>
                  <a:srgbClr val="5C6B80"/>
                </a:solidFill>
                <a:latin typeface="Arial" pitchFamily="34" charset="0"/>
                <a:ea typeface="Arial" pitchFamily="34" charset="-122"/>
                <a:cs typeface="Arial" pitchFamily="34" charset="-120"/>
              </a:rPr>
              <a:t>type=culvert · severity=high · lang=hi · reason in plain language.</a:t>
            </a:r>
            <a:endParaRPr lang="en-US" sz="1400" dirty="0"/>
          </a:p>
        </p:txBody>
      </p:sp>
      <p:sp>
        <p:nvSpPr>
          <p:cNvPr id="13" name="Shape 11"/>
          <p:cNvSpPr/>
          <p:nvPr/>
        </p:nvSpPr>
        <p:spPr>
          <a:xfrm>
            <a:off x="8138160" y="1051560"/>
            <a:ext cx="3611880" cy="2148840"/>
          </a:xfrm>
          <a:prstGeom prst="roundRect">
            <a:avLst>
              <a:gd name="adj" fmla="val 3404"/>
            </a:avLst>
          </a:prstGeom>
          <a:solidFill>
            <a:srgbClr val="FFFFFF"/>
          </a:solidFill>
          <a:ln/>
        </p:spPr>
      </p:sp>
      <p:sp>
        <p:nvSpPr>
          <p:cNvPr id="14" name="Text 12"/>
          <p:cNvSpPr/>
          <p:nvPr/>
        </p:nvSpPr>
        <p:spPr>
          <a:xfrm>
            <a:off x="8321040" y="1234440"/>
            <a:ext cx="502920" cy="411480"/>
          </a:xfrm>
          <a:prstGeom prst="rect">
            <a:avLst/>
          </a:prstGeom>
          <a:noFill/>
          <a:ln/>
        </p:spPr>
        <p:txBody>
          <a:bodyPr wrap="square" lIns="0" tIns="0" rIns="0" bIns="0" rtlCol="0" anchor="ctr"/>
          <a:lstStyle/>
          <a:p>
            <a:pPr indent="0" marL="0">
              <a:buNone/>
            </a:pPr>
            <a:r>
              <a:rPr lang="en-US" sz="2200" b="1" dirty="0">
                <a:solidFill>
                  <a:srgbClr val="C45C26"/>
                </a:solidFill>
                <a:latin typeface="Arial" pitchFamily="34" charset="0"/>
                <a:ea typeface="Arial" pitchFamily="34" charset="-122"/>
                <a:cs typeface="Arial" pitchFamily="34" charset="-120"/>
              </a:rPr>
              <a:t>3</a:t>
            </a:r>
            <a:endParaRPr lang="en-US" sz="2200" dirty="0"/>
          </a:p>
        </p:txBody>
      </p:sp>
      <p:sp>
        <p:nvSpPr>
          <p:cNvPr id="15" name="Text 13"/>
          <p:cNvSpPr/>
          <p:nvPr/>
        </p:nvSpPr>
        <p:spPr>
          <a:xfrm>
            <a:off x="8869680" y="1307592"/>
            <a:ext cx="2651760" cy="320040"/>
          </a:xfrm>
          <a:prstGeom prst="rect">
            <a:avLst/>
          </a:prstGeom>
          <a:noFill/>
          <a:ln/>
        </p:spPr>
        <p:txBody>
          <a:bodyPr wrap="square" lIns="0" tIns="0" rIns="0" bIns="0" rtlCol="0" anchor="ctr"/>
          <a:lstStyle/>
          <a:p>
            <a:pPr indent="0" marL="0">
              <a:buNone/>
            </a:pPr>
            <a:r>
              <a:rPr lang="en-US" sz="1200" b="1" dirty="0">
                <a:solidFill>
                  <a:srgbClr val="1B2A4A"/>
                </a:solidFill>
                <a:latin typeface="Arial" pitchFamily="34" charset="0"/>
                <a:ea typeface="Arial" pitchFamily="34" charset="-122"/>
                <a:cs typeface="Arial" pitchFamily="34" charset="-120"/>
              </a:rPr>
              <a:t>CLUSTER</a:t>
            </a:r>
            <a:endParaRPr lang="en-US" sz="1200" dirty="0"/>
          </a:p>
        </p:txBody>
      </p:sp>
      <p:sp>
        <p:nvSpPr>
          <p:cNvPr id="16" name="Text 14"/>
          <p:cNvSpPr/>
          <p:nvPr/>
        </p:nvSpPr>
        <p:spPr>
          <a:xfrm>
            <a:off x="8366760" y="1828800"/>
            <a:ext cx="3154680" cy="1143000"/>
          </a:xfrm>
          <a:prstGeom prst="rect">
            <a:avLst/>
          </a:prstGeom>
          <a:noFill/>
          <a:ln/>
        </p:spPr>
        <p:txBody>
          <a:bodyPr wrap="square" lIns="0" tIns="0" rIns="0" bIns="0" rtlCol="0" anchor="ctr"/>
          <a:lstStyle/>
          <a:p>
            <a:pPr indent="0" marL="0">
              <a:buNone/>
            </a:pPr>
            <a:r>
              <a:rPr lang="en-US" sz="1400" dirty="0">
                <a:solidFill>
                  <a:srgbClr val="5C6B80"/>
                </a:solidFill>
                <a:latin typeface="Arial" pitchFamily="34" charset="0"/>
                <a:ea typeface="Arial" pitchFamily="34" charset="-122"/>
                <a:cs typeface="Arial" pitchFamily="34" charset="-120"/>
              </a:rPr>
              <a:t>9 SAMPLE reports snap to one stretch. Census village population on the drawer.</a:t>
            </a:r>
            <a:endParaRPr lang="en-US" sz="1400" dirty="0"/>
          </a:p>
        </p:txBody>
      </p:sp>
      <p:sp>
        <p:nvSpPr>
          <p:cNvPr id="17" name="Shape 15"/>
          <p:cNvSpPr/>
          <p:nvPr/>
        </p:nvSpPr>
        <p:spPr>
          <a:xfrm>
            <a:off x="457200" y="3383280"/>
            <a:ext cx="3611880" cy="2148840"/>
          </a:xfrm>
          <a:prstGeom prst="roundRect">
            <a:avLst>
              <a:gd name="adj" fmla="val 3404"/>
            </a:avLst>
          </a:prstGeom>
          <a:solidFill>
            <a:srgbClr val="FFFFFF"/>
          </a:solidFill>
          <a:ln/>
        </p:spPr>
      </p:sp>
      <p:sp>
        <p:nvSpPr>
          <p:cNvPr id="18" name="Text 16"/>
          <p:cNvSpPr/>
          <p:nvPr/>
        </p:nvSpPr>
        <p:spPr>
          <a:xfrm>
            <a:off x="640080" y="3566160"/>
            <a:ext cx="502920" cy="411480"/>
          </a:xfrm>
          <a:prstGeom prst="rect">
            <a:avLst/>
          </a:prstGeom>
          <a:noFill/>
          <a:ln/>
        </p:spPr>
        <p:txBody>
          <a:bodyPr wrap="square" lIns="0" tIns="0" rIns="0" bIns="0" rtlCol="0" anchor="ctr"/>
          <a:lstStyle/>
          <a:p>
            <a:pPr indent="0" marL="0">
              <a:buNone/>
            </a:pPr>
            <a:r>
              <a:rPr lang="en-US" sz="2200" b="1" dirty="0">
                <a:solidFill>
                  <a:srgbClr val="C45C26"/>
                </a:solidFill>
                <a:latin typeface="Arial" pitchFamily="34" charset="0"/>
                <a:ea typeface="Arial" pitchFamily="34" charset="-122"/>
                <a:cs typeface="Arial" pitchFamily="34" charset="-120"/>
              </a:rPr>
              <a:t>4</a:t>
            </a:r>
            <a:endParaRPr lang="en-US" sz="2200" dirty="0"/>
          </a:p>
        </p:txBody>
      </p:sp>
      <p:sp>
        <p:nvSpPr>
          <p:cNvPr id="19" name="Text 17"/>
          <p:cNvSpPr/>
          <p:nvPr/>
        </p:nvSpPr>
        <p:spPr>
          <a:xfrm>
            <a:off x="1188720" y="3639312"/>
            <a:ext cx="2651760" cy="320040"/>
          </a:xfrm>
          <a:prstGeom prst="rect">
            <a:avLst/>
          </a:prstGeom>
          <a:noFill/>
          <a:ln/>
        </p:spPr>
        <p:txBody>
          <a:bodyPr wrap="square" lIns="0" tIns="0" rIns="0" bIns="0" rtlCol="0" anchor="ctr"/>
          <a:lstStyle/>
          <a:p>
            <a:pPr indent="0" marL="0">
              <a:buNone/>
            </a:pPr>
            <a:r>
              <a:rPr lang="en-US" sz="1200" b="1" dirty="0">
                <a:solidFill>
                  <a:srgbClr val="1B2A4A"/>
                </a:solidFill>
                <a:latin typeface="Arial" pitchFamily="34" charset="0"/>
                <a:ea typeface="Arial" pitchFamily="34" charset="-122"/>
                <a:cs typeface="Arial" pitchFamily="34" charset="-120"/>
              </a:rPr>
              <a:t>SCORE</a:t>
            </a:r>
            <a:endParaRPr lang="en-US" sz="1200" dirty="0"/>
          </a:p>
        </p:txBody>
      </p:sp>
      <p:sp>
        <p:nvSpPr>
          <p:cNvPr id="20" name="Text 18"/>
          <p:cNvSpPr/>
          <p:nvPr/>
        </p:nvSpPr>
        <p:spPr>
          <a:xfrm>
            <a:off x="685800" y="4160520"/>
            <a:ext cx="3154680" cy="1143000"/>
          </a:xfrm>
          <a:prstGeom prst="rect">
            <a:avLst/>
          </a:prstGeom>
          <a:noFill/>
          <a:ln/>
        </p:spPr>
        <p:txBody>
          <a:bodyPr wrap="square" lIns="0" tIns="0" rIns="0" bIns="0" rtlCol="0" anchor="ctr"/>
          <a:lstStyle/>
          <a:p>
            <a:pPr indent="0" marL="0">
              <a:buNone/>
            </a:pPr>
            <a:r>
              <a:rPr lang="en-US" sz="1400" dirty="0">
                <a:solidFill>
                  <a:srgbClr val="5C6B80"/>
                </a:solidFill>
                <a:latin typeface="Arial" pitchFamily="34" charset="0"/>
                <a:ea typeface="Arial" pitchFamily="34" charset="-122"/>
                <a:cs typeface="Arial" pitchFamily="34" charset="-120"/>
              </a:rPr>
              <a:t>0.81. Gap yes. No MPLADS/PMGSY work of that class. Monsoon window on.</a:t>
            </a:r>
            <a:endParaRPr lang="en-US" sz="1400" dirty="0"/>
          </a:p>
        </p:txBody>
      </p:sp>
      <p:sp>
        <p:nvSpPr>
          <p:cNvPr id="21" name="Shape 19"/>
          <p:cNvSpPr/>
          <p:nvPr/>
        </p:nvSpPr>
        <p:spPr>
          <a:xfrm>
            <a:off x="4297680" y="3383280"/>
            <a:ext cx="3611880" cy="2148840"/>
          </a:xfrm>
          <a:prstGeom prst="roundRect">
            <a:avLst>
              <a:gd name="adj" fmla="val 3404"/>
            </a:avLst>
          </a:prstGeom>
          <a:solidFill>
            <a:srgbClr val="FFFFFF"/>
          </a:solidFill>
          <a:ln/>
        </p:spPr>
      </p:sp>
      <p:sp>
        <p:nvSpPr>
          <p:cNvPr id="22" name="Text 20"/>
          <p:cNvSpPr/>
          <p:nvPr/>
        </p:nvSpPr>
        <p:spPr>
          <a:xfrm>
            <a:off x="4480560" y="3566160"/>
            <a:ext cx="502920" cy="411480"/>
          </a:xfrm>
          <a:prstGeom prst="rect">
            <a:avLst/>
          </a:prstGeom>
          <a:noFill/>
          <a:ln/>
        </p:spPr>
        <p:txBody>
          <a:bodyPr wrap="square" lIns="0" tIns="0" rIns="0" bIns="0" rtlCol="0" anchor="ctr"/>
          <a:lstStyle/>
          <a:p>
            <a:pPr indent="0" marL="0">
              <a:buNone/>
            </a:pPr>
            <a:r>
              <a:rPr lang="en-US" sz="2200" b="1" dirty="0">
                <a:solidFill>
                  <a:srgbClr val="C45C26"/>
                </a:solidFill>
                <a:latin typeface="Arial" pitchFamily="34" charset="0"/>
                <a:ea typeface="Arial" pitchFamily="34" charset="-122"/>
                <a:cs typeface="Arial" pitchFamily="34" charset="-120"/>
              </a:rPr>
              <a:t>5</a:t>
            </a:r>
            <a:endParaRPr lang="en-US" sz="2200" dirty="0"/>
          </a:p>
        </p:txBody>
      </p:sp>
      <p:sp>
        <p:nvSpPr>
          <p:cNvPr id="23" name="Text 21"/>
          <p:cNvSpPr/>
          <p:nvPr/>
        </p:nvSpPr>
        <p:spPr>
          <a:xfrm>
            <a:off x="5029200" y="3639312"/>
            <a:ext cx="2651760" cy="320040"/>
          </a:xfrm>
          <a:prstGeom prst="rect">
            <a:avLst/>
          </a:prstGeom>
          <a:noFill/>
          <a:ln/>
        </p:spPr>
        <p:txBody>
          <a:bodyPr wrap="square" lIns="0" tIns="0" rIns="0" bIns="0" rtlCol="0" anchor="ctr"/>
          <a:lstStyle/>
          <a:p>
            <a:pPr indent="0" marL="0">
              <a:buNone/>
            </a:pPr>
            <a:r>
              <a:rPr lang="en-US" sz="1200" b="1" dirty="0">
                <a:solidFill>
                  <a:srgbClr val="1B2A4A"/>
                </a:solidFill>
                <a:latin typeface="Arial" pitchFamily="34" charset="0"/>
                <a:ea typeface="Arial" pitchFamily="34" charset="-122"/>
                <a:cs typeface="Arial" pitchFamily="34" charset="-120"/>
              </a:rPr>
              <a:t>NATIONAL</a:t>
            </a:r>
            <a:endParaRPr lang="en-US" sz="1200" dirty="0"/>
          </a:p>
        </p:txBody>
      </p:sp>
      <p:sp>
        <p:nvSpPr>
          <p:cNvPr id="24" name="Text 22"/>
          <p:cNvSpPr/>
          <p:nvPr/>
        </p:nvSpPr>
        <p:spPr>
          <a:xfrm>
            <a:off x="4526280" y="4160520"/>
            <a:ext cx="3154680" cy="1143000"/>
          </a:xfrm>
          <a:prstGeom prst="rect">
            <a:avLst/>
          </a:prstGeom>
          <a:noFill/>
          <a:ln/>
        </p:spPr>
        <p:txBody>
          <a:bodyPr wrap="square" lIns="0" tIns="0" rIns="0" bIns="0" rtlCol="0" anchor="ctr"/>
          <a:lstStyle/>
          <a:p>
            <a:pPr indent="0" marL="0">
              <a:buNone/>
            </a:pPr>
            <a:r>
              <a:rPr lang="en-US" sz="1400" dirty="0">
                <a:solidFill>
                  <a:srgbClr val="5C6B80"/>
                </a:solidFill>
                <a:latin typeface="Arial" pitchFamily="34" charset="0"/>
                <a:ea typeface="Arial" pitchFamily="34" charset="-122"/>
                <a:cs typeface="Arial" pitchFamily="34" charset="-120"/>
              </a:rPr>
              <a:t>Same protocol on a Delhi pothole cluster. Ranked shelf. Two tenants.</a:t>
            </a:r>
            <a:endParaRPr lang="en-US" sz="1400" dirty="0"/>
          </a:p>
        </p:txBody>
      </p:sp>
      <p:sp>
        <p:nvSpPr>
          <p:cNvPr id="25" name="Shape 23"/>
          <p:cNvSpPr/>
          <p:nvPr/>
        </p:nvSpPr>
        <p:spPr>
          <a:xfrm>
            <a:off x="8138160" y="3383280"/>
            <a:ext cx="3611880" cy="2148840"/>
          </a:xfrm>
          <a:prstGeom prst="roundRect">
            <a:avLst>
              <a:gd name="adj" fmla="val 3404"/>
            </a:avLst>
          </a:prstGeom>
          <a:solidFill>
            <a:srgbClr val="FFFFFF"/>
          </a:solidFill>
          <a:ln/>
        </p:spPr>
      </p:sp>
      <p:sp>
        <p:nvSpPr>
          <p:cNvPr id="26" name="Text 24"/>
          <p:cNvSpPr/>
          <p:nvPr/>
        </p:nvSpPr>
        <p:spPr>
          <a:xfrm>
            <a:off x="8321040" y="3566160"/>
            <a:ext cx="502920" cy="411480"/>
          </a:xfrm>
          <a:prstGeom prst="rect">
            <a:avLst/>
          </a:prstGeom>
          <a:noFill/>
          <a:ln/>
        </p:spPr>
        <p:txBody>
          <a:bodyPr wrap="square" lIns="0" tIns="0" rIns="0" bIns="0" rtlCol="0" anchor="ctr"/>
          <a:lstStyle/>
          <a:p>
            <a:pPr indent="0" marL="0">
              <a:buNone/>
            </a:pPr>
            <a:r>
              <a:rPr lang="en-US" sz="2200" b="1" dirty="0">
                <a:solidFill>
                  <a:srgbClr val="C45C26"/>
                </a:solidFill>
                <a:latin typeface="Arial" pitchFamily="34" charset="0"/>
                <a:ea typeface="Arial" pitchFamily="34" charset="-122"/>
                <a:cs typeface="Arial" pitchFamily="34" charset="-120"/>
              </a:rPr>
              <a:t>6</a:t>
            </a:r>
            <a:endParaRPr lang="en-US" sz="2200" dirty="0"/>
          </a:p>
        </p:txBody>
      </p:sp>
      <p:sp>
        <p:nvSpPr>
          <p:cNvPr id="27" name="Text 25"/>
          <p:cNvSpPr/>
          <p:nvPr/>
        </p:nvSpPr>
        <p:spPr>
          <a:xfrm>
            <a:off x="8869680" y="3639312"/>
            <a:ext cx="2651760" cy="320040"/>
          </a:xfrm>
          <a:prstGeom prst="rect">
            <a:avLst/>
          </a:prstGeom>
          <a:noFill/>
          <a:ln/>
        </p:spPr>
        <p:txBody>
          <a:bodyPr wrap="square" lIns="0" tIns="0" rIns="0" bIns="0" rtlCol="0" anchor="ctr"/>
          <a:lstStyle/>
          <a:p>
            <a:pPr indent="0" marL="0">
              <a:buNone/>
            </a:pPr>
            <a:r>
              <a:rPr lang="en-US" sz="1200" b="1" dirty="0">
                <a:solidFill>
                  <a:srgbClr val="1B2A4A"/>
                </a:solidFill>
                <a:latin typeface="Arial" pitchFamily="34" charset="0"/>
                <a:ea typeface="Arial" pitchFamily="34" charset="-122"/>
                <a:cs typeface="Arial" pitchFamily="34" charset="-120"/>
              </a:rPr>
              <a:t>ELEVATE</a:t>
            </a:r>
            <a:endParaRPr lang="en-US" sz="1200" dirty="0"/>
          </a:p>
        </p:txBody>
      </p:sp>
      <p:sp>
        <p:nvSpPr>
          <p:cNvPr id="28" name="Text 26"/>
          <p:cNvSpPr/>
          <p:nvPr/>
        </p:nvSpPr>
        <p:spPr>
          <a:xfrm>
            <a:off x="8366760" y="4160520"/>
            <a:ext cx="3154680" cy="1143000"/>
          </a:xfrm>
          <a:prstGeom prst="rect">
            <a:avLst/>
          </a:prstGeom>
          <a:noFill/>
          <a:ln/>
        </p:spPr>
        <p:txBody>
          <a:bodyPr wrap="square" lIns="0" tIns="0" rIns="0" bIns="0" rtlCol="0" anchor="ctr"/>
          <a:lstStyle/>
          <a:p>
            <a:pPr indent="0" marL="0">
              <a:buNone/>
            </a:pPr>
            <a:r>
              <a:rPr lang="en-US" sz="1400" dirty="0">
                <a:solidFill>
                  <a:srgbClr val="5C6B80"/>
                </a:solidFill>
                <a:latin typeface="Arial" pitchFamily="34" charset="0"/>
                <a:ea typeface="Arial" pitchFamily="34" charset="-122"/>
                <a:cs typeface="Arial" pitchFamily="34" charset="-120"/>
              </a:rPr>
              <a:t>12-line ministry note. Citizen gets 'elevated to planning shelf', not 'registered'.</a:t>
            </a:r>
            <a:endParaRPr lang="en-US" sz="1400" dirty="0"/>
          </a:p>
        </p:txBody>
      </p:sp>
      <p:sp>
        <p:nvSpPr>
          <p:cNvPr id="29" name="Text 27"/>
          <p:cNvSpPr/>
          <p:nvPr/>
        </p:nvSpPr>
        <p:spPr>
          <a:xfrm>
            <a:off x="365760" y="6446520"/>
            <a:ext cx="9144000" cy="228600"/>
          </a:xfrm>
          <a:prstGeom prst="rect">
            <a:avLst/>
          </a:prstGeom>
          <a:noFill/>
          <a:ln/>
        </p:spPr>
        <p:txBody>
          <a:bodyPr wrap="square" lIns="0" tIns="0" rIns="0" bIns="0" rtlCol="0" anchor="ctr"/>
          <a:lstStyle/>
          <a:p>
            <a:pPr indent="0" marL="0">
              <a:buNone/>
            </a:pPr>
            <a:r>
              <a:rPr lang="en-US" sz="1000" dirty="0">
                <a:solidFill>
                  <a:srgbClr val="5C6B80"/>
                </a:solidFill>
                <a:latin typeface="Arial" pitchFamily="34" charset="0"/>
                <a:ea typeface="Arial" pitchFamily="34" charset="-122"/>
                <a:cs typeface="Arial" pitchFamily="34" charset="-120"/>
              </a:rPr>
              <a:t>NIRMANGRID  ·  TRACK 1  ·  APPD AI</a:t>
            </a:r>
            <a:endParaRPr lang="en-US" sz="1000" dirty="0"/>
          </a:p>
        </p:txBody>
      </p:sp>
      <p:sp>
        <p:nvSpPr>
          <p:cNvPr id="30" name="Text 28"/>
          <p:cNvSpPr/>
          <p:nvPr/>
        </p:nvSpPr>
        <p:spPr>
          <a:xfrm>
            <a:off x="11155680" y="6446520"/>
            <a:ext cx="640080" cy="228600"/>
          </a:xfrm>
          <a:prstGeom prst="rect">
            <a:avLst/>
          </a:prstGeom>
          <a:noFill/>
          <a:ln/>
        </p:spPr>
        <p:txBody>
          <a:bodyPr wrap="square" lIns="0" tIns="0" rIns="0" bIns="0" rtlCol="0" anchor="ctr"/>
          <a:lstStyle/>
          <a:p>
            <a:pPr algn="r" indent="0" marL="0">
              <a:buNone/>
            </a:pPr>
            <a:r>
              <a:rPr lang="en-US" sz="1000" dirty="0">
                <a:solidFill>
                  <a:srgbClr val="5C6B80"/>
                </a:solidFill>
                <a:latin typeface="Arial" pitchFamily="34" charset="0"/>
                <a:ea typeface="Arial" pitchFamily="34" charset="-122"/>
                <a:cs typeface="Arial" pitchFamily="34" charset="-120"/>
              </a:rPr>
              <a:t>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A"/>
          </a:solidFill>
          <a:ln/>
        </p:spPr>
      </p:sp>
      <p:sp>
        <p:nvSpPr>
          <p:cNvPr id="3" name="Text 1"/>
          <p:cNvSpPr/>
          <p:nvPr/>
        </p:nvSpPr>
        <p:spPr>
          <a:xfrm>
            <a:off x="457200" y="256032"/>
            <a:ext cx="10972800" cy="228600"/>
          </a:xfrm>
          <a:prstGeom prst="rect">
            <a:avLst/>
          </a:prstGeom>
          <a:noFill/>
          <a:ln/>
        </p:spPr>
        <p:txBody>
          <a:bodyPr wrap="square" lIns="0" tIns="0" rIns="0" bIns="0" rtlCol="0" anchor="ctr"/>
          <a:lstStyle/>
          <a:p>
            <a:pPr indent="0" marL="0">
              <a:buNone/>
            </a:pPr>
            <a:r>
              <a:rPr lang="en-US" sz="1100" b="1" spc="150" kern="0" dirty="0">
                <a:solidFill>
                  <a:srgbClr val="C45C26"/>
                </a:solidFill>
                <a:latin typeface="Arial" pitchFamily="34" charset="0"/>
                <a:ea typeface="Arial" pitchFamily="34" charset="-122"/>
                <a:cs typeface="Arial" pitchFamily="34" charset="-120"/>
              </a:rPr>
              <a:t>INDIA REACH AND THE DPG SHAPE   ·   RUBRIC 20%</a:t>
            </a:r>
            <a:endParaRPr lang="en-US" sz="1100" dirty="0"/>
          </a:p>
        </p:txBody>
      </p:sp>
      <p:sp>
        <p:nvSpPr>
          <p:cNvPr id="4" name="Text 2"/>
          <p:cNvSpPr/>
          <p:nvPr/>
        </p:nvSpPr>
        <p:spPr>
          <a:xfrm>
            <a:off x="457200" y="502920"/>
            <a:ext cx="11247120" cy="365760"/>
          </a:xfrm>
          <a:prstGeom prst="rect">
            <a:avLst/>
          </a:prstGeom>
          <a:noFill/>
          <a:ln/>
        </p:spPr>
        <p:txBody>
          <a:bodyPr wrap="square" lIns="0" tIns="0" rIns="0" bIns="0" rtlCol="0" anchor="ctr"/>
          <a:lstStyle/>
          <a:p>
            <a:pPr indent="0" marL="0">
              <a:buNone/>
            </a:pPr>
            <a:r>
              <a:rPr lang="en-US" sz="1800" b="1" dirty="0">
                <a:solidFill>
                  <a:srgbClr val="1B2A4A"/>
                </a:solidFill>
                <a:latin typeface="Arial" pitchFamily="34" charset="0"/>
                <a:ea typeface="Arial" pitchFamily="34" charset="-122"/>
                <a:cs typeface="Arial" pitchFamily="34" charset="-120"/>
              </a:rPr>
              <a:t>Two states on day one. A third state is a boundary file and a language pack.</a:t>
            </a:r>
            <a:endParaRPr lang="en-US" sz="1800" dirty="0"/>
          </a:p>
        </p:txBody>
      </p:sp>
      <p:sp>
        <p:nvSpPr>
          <p:cNvPr id="5" name="Shape 3"/>
          <p:cNvSpPr/>
          <p:nvPr/>
        </p:nvSpPr>
        <p:spPr>
          <a:xfrm>
            <a:off x="457200" y="1097280"/>
            <a:ext cx="5577840" cy="2148840"/>
          </a:xfrm>
          <a:prstGeom prst="roundRect">
            <a:avLst>
              <a:gd name="adj" fmla="val 3404"/>
            </a:avLst>
          </a:prstGeom>
          <a:solidFill>
            <a:srgbClr val="FFFFFF"/>
          </a:solidFill>
          <a:ln/>
        </p:spPr>
      </p:sp>
      <p:sp>
        <p:nvSpPr>
          <p:cNvPr id="6" name="Text 4"/>
          <p:cNvSpPr/>
          <p:nvPr/>
        </p:nvSpPr>
        <p:spPr>
          <a:xfrm>
            <a:off x="731520" y="1325880"/>
            <a:ext cx="1188720" cy="457200"/>
          </a:xfrm>
          <a:prstGeom prst="rect">
            <a:avLst/>
          </a:prstGeom>
          <a:noFill/>
          <a:ln/>
        </p:spPr>
        <p:txBody>
          <a:bodyPr wrap="square" lIns="0" tIns="0" rIns="0" bIns="0" rtlCol="0" anchor="ctr"/>
          <a:lstStyle/>
          <a:p>
            <a:pPr indent="0" marL="0">
              <a:buNone/>
            </a:pPr>
            <a:r>
              <a:rPr lang="en-US" sz="2200" b="1" dirty="0">
                <a:solidFill>
                  <a:srgbClr val="C45C26"/>
                </a:solidFill>
                <a:latin typeface="Arial" pitchFamily="34" charset="0"/>
                <a:ea typeface="Arial" pitchFamily="34" charset="-122"/>
                <a:cs typeface="Arial" pitchFamily="34" charset="-120"/>
              </a:rPr>
              <a:t>02</a:t>
            </a:r>
            <a:endParaRPr lang="en-US" sz="2200" dirty="0"/>
          </a:p>
        </p:txBody>
      </p:sp>
      <p:sp>
        <p:nvSpPr>
          <p:cNvPr id="7" name="Text 5"/>
          <p:cNvSpPr/>
          <p:nvPr/>
        </p:nvSpPr>
        <p:spPr>
          <a:xfrm>
            <a:off x="2011680" y="1389888"/>
            <a:ext cx="3749040" cy="365760"/>
          </a:xfrm>
          <a:prstGeom prst="rect">
            <a:avLst/>
          </a:prstGeom>
          <a:noFill/>
          <a:ln/>
        </p:spPr>
        <p:txBody>
          <a:bodyPr wrap="square" lIns="0" tIns="0" rIns="0" bIns="0" rtlCol="0" anchor="ctr"/>
          <a:lstStyle/>
          <a:p>
            <a:pPr indent="0" marL="0">
              <a:buNone/>
            </a:pPr>
            <a:r>
              <a:rPr lang="en-US" sz="1300" b="1" dirty="0">
                <a:solidFill>
                  <a:srgbClr val="1B2A4A"/>
                </a:solidFill>
                <a:latin typeface="Arial" pitchFamily="34" charset="0"/>
                <a:ea typeface="Arial" pitchFamily="34" charset="-122"/>
                <a:cs typeface="Arial" pitchFamily="34" charset="-120"/>
              </a:rPr>
              <a:t>TENANTS IN THE DEMO</a:t>
            </a:r>
            <a:endParaRPr lang="en-US" sz="1300" dirty="0"/>
          </a:p>
        </p:txBody>
      </p:sp>
      <p:sp>
        <p:nvSpPr>
          <p:cNvPr id="8" name="Text 6"/>
          <p:cNvSpPr/>
          <p:nvPr/>
        </p:nvSpPr>
        <p:spPr>
          <a:xfrm>
            <a:off x="731520" y="2011680"/>
            <a:ext cx="5029200" cy="960120"/>
          </a:xfrm>
          <a:prstGeom prst="rect">
            <a:avLst/>
          </a:prstGeom>
          <a:noFill/>
          <a:ln/>
        </p:spPr>
        <p:txBody>
          <a:bodyPr wrap="square" lIns="0" tIns="0" rIns="0" bIns="0" rtlCol="0" anchor="ctr"/>
          <a:lstStyle/>
          <a:p>
            <a:pPr indent="0" marL="0">
              <a:buNone/>
            </a:pPr>
            <a:r>
              <a:rPr lang="en-US" sz="1400" dirty="0">
                <a:solidFill>
                  <a:srgbClr val="5C6B80"/>
                </a:solidFill>
                <a:latin typeface="Arial" pitchFamily="34" charset="0"/>
                <a:ea typeface="Arial" pitchFamily="34" charset="-122"/>
                <a:cs typeface="Arial" pitchFamily="34" charset="-120"/>
              </a:rPr>
              <a:t>Delhi PWD · Rajasthan PWD. Same code path. Different polygon + language pack + SLA hours.</a:t>
            </a:r>
            <a:endParaRPr lang="en-US" sz="1400" dirty="0"/>
          </a:p>
        </p:txBody>
      </p:sp>
      <p:sp>
        <p:nvSpPr>
          <p:cNvPr id="9" name="Shape 7"/>
          <p:cNvSpPr/>
          <p:nvPr/>
        </p:nvSpPr>
        <p:spPr>
          <a:xfrm>
            <a:off x="6309360" y="1097280"/>
            <a:ext cx="5577840" cy="2148840"/>
          </a:xfrm>
          <a:prstGeom prst="roundRect">
            <a:avLst>
              <a:gd name="adj" fmla="val 3404"/>
            </a:avLst>
          </a:prstGeom>
          <a:solidFill>
            <a:srgbClr val="FFFFFF"/>
          </a:solidFill>
          <a:ln/>
        </p:spPr>
      </p:sp>
      <p:sp>
        <p:nvSpPr>
          <p:cNvPr id="10" name="Text 8"/>
          <p:cNvSpPr/>
          <p:nvPr/>
        </p:nvSpPr>
        <p:spPr>
          <a:xfrm>
            <a:off x="6583680" y="1325880"/>
            <a:ext cx="1188720" cy="457200"/>
          </a:xfrm>
          <a:prstGeom prst="rect">
            <a:avLst/>
          </a:prstGeom>
          <a:noFill/>
          <a:ln/>
        </p:spPr>
        <p:txBody>
          <a:bodyPr wrap="square" lIns="0" tIns="0" rIns="0" bIns="0" rtlCol="0" anchor="ctr"/>
          <a:lstStyle/>
          <a:p>
            <a:pPr indent="0" marL="0">
              <a:buNone/>
            </a:pPr>
            <a:r>
              <a:rPr lang="en-US" sz="2200" b="1" dirty="0">
                <a:solidFill>
                  <a:srgbClr val="C45C26"/>
                </a:solidFill>
                <a:latin typeface="Arial" pitchFamily="34" charset="0"/>
                <a:ea typeface="Arial" pitchFamily="34" charset="-122"/>
                <a:cs typeface="Arial" pitchFamily="34" charset="-120"/>
              </a:rPr>
              <a:t>03</a:t>
            </a:r>
            <a:endParaRPr lang="en-US" sz="2200" dirty="0"/>
          </a:p>
        </p:txBody>
      </p:sp>
      <p:sp>
        <p:nvSpPr>
          <p:cNvPr id="11" name="Text 9"/>
          <p:cNvSpPr/>
          <p:nvPr/>
        </p:nvSpPr>
        <p:spPr>
          <a:xfrm>
            <a:off x="7863840" y="1389888"/>
            <a:ext cx="3749040" cy="365760"/>
          </a:xfrm>
          <a:prstGeom prst="rect">
            <a:avLst/>
          </a:prstGeom>
          <a:noFill/>
          <a:ln/>
        </p:spPr>
        <p:txBody>
          <a:bodyPr wrap="square" lIns="0" tIns="0" rIns="0" bIns="0" rtlCol="0" anchor="ctr"/>
          <a:lstStyle/>
          <a:p>
            <a:pPr indent="0" marL="0">
              <a:buNone/>
            </a:pPr>
            <a:r>
              <a:rPr lang="en-US" sz="1300" b="1" dirty="0">
                <a:solidFill>
                  <a:srgbClr val="1B2A4A"/>
                </a:solidFill>
                <a:latin typeface="Arial" pitchFamily="34" charset="0"/>
                <a:ea typeface="Arial" pitchFamily="34" charset="-122"/>
                <a:cs typeface="Arial" pitchFamily="34" charset="-120"/>
              </a:rPr>
              <a:t>DISTRICTS EACH</a:t>
            </a:r>
            <a:endParaRPr lang="en-US" sz="1300" dirty="0"/>
          </a:p>
        </p:txBody>
      </p:sp>
      <p:sp>
        <p:nvSpPr>
          <p:cNvPr id="12" name="Text 10"/>
          <p:cNvSpPr/>
          <p:nvPr/>
        </p:nvSpPr>
        <p:spPr>
          <a:xfrm>
            <a:off x="6583680" y="2011680"/>
            <a:ext cx="5029200" cy="960120"/>
          </a:xfrm>
          <a:prstGeom prst="rect">
            <a:avLst/>
          </a:prstGeom>
          <a:noFill/>
          <a:ln/>
        </p:spPr>
        <p:txBody>
          <a:bodyPr wrap="square" lIns="0" tIns="0" rIns="0" bIns="0" rtlCol="0" anchor="ctr"/>
          <a:lstStyle/>
          <a:p>
            <a:pPr indent="0" marL="0">
              <a:buNone/>
            </a:pPr>
            <a:r>
              <a:rPr lang="en-US" sz="1400" dirty="0">
                <a:solidFill>
                  <a:srgbClr val="5C6B80"/>
                </a:solidFill>
                <a:latin typeface="Arial" pitchFamily="34" charset="0"/>
                <a:ea typeface="Arial" pitchFamily="34" charset="-122"/>
                <a:cs typeface="Arial" pitchFamily="34" charset="-120"/>
              </a:rPr>
              <a:t>Delhi: New Delhi, South, East. Rajasthan: Jaipur, Jodhpur, Barmer — the 2-pager's first-wave logic.</a:t>
            </a:r>
            <a:endParaRPr lang="en-US" sz="1400" dirty="0"/>
          </a:p>
        </p:txBody>
      </p:sp>
      <p:sp>
        <p:nvSpPr>
          <p:cNvPr id="13" name="Shape 11"/>
          <p:cNvSpPr/>
          <p:nvPr/>
        </p:nvSpPr>
        <p:spPr>
          <a:xfrm>
            <a:off x="457200" y="3429000"/>
            <a:ext cx="5577840" cy="2148840"/>
          </a:xfrm>
          <a:prstGeom prst="roundRect">
            <a:avLst>
              <a:gd name="adj" fmla="val 3404"/>
            </a:avLst>
          </a:prstGeom>
          <a:solidFill>
            <a:srgbClr val="1B2A4A"/>
          </a:solidFill>
          <a:ln/>
        </p:spPr>
      </p:sp>
      <p:sp>
        <p:nvSpPr>
          <p:cNvPr id="14" name="Text 12"/>
          <p:cNvSpPr/>
          <p:nvPr/>
        </p:nvSpPr>
        <p:spPr>
          <a:xfrm>
            <a:off x="731520" y="3657600"/>
            <a:ext cx="1188720" cy="457200"/>
          </a:xfrm>
          <a:prstGeom prst="rect">
            <a:avLst/>
          </a:prstGeom>
          <a:noFill/>
          <a:ln/>
        </p:spPr>
        <p:txBody>
          <a:bodyPr wrap="square" lIns="0" tIns="0" rIns="0" bIns="0" rtlCol="0" anchor="ctr"/>
          <a:lstStyle/>
          <a:p>
            <a:pPr indent="0" marL="0">
              <a:buNone/>
            </a:pPr>
            <a:r>
              <a:rPr lang="en-US" sz="2200" b="1" dirty="0">
                <a:solidFill>
                  <a:srgbClr val="C45C26"/>
                </a:solidFill>
                <a:latin typeface="Arial" pitchFamily="34" charset="0"/>
                <a:ea typeface="Arial" pitchFamily="34" charset="-122"/>
                <a:cs typeface="Arial" pitchFamily="34" charset="-120"/>
              </a:rPr>
              <a:t>01</a:t>
            </a:r>
            <a:endParaRPr lang="en-US" sz="2200" dirty="0"/>
          </a:p>
        </p:txBody>
      </p:sp>
      <p:sp>
        <p:nvSpPr>
          <p:cNvPr id="15" name="Text 13"/>
          <p:cNvSpPr/>
          <p:nvPr/>
        </p:nvSpPr>
        <p:spPr>
          <a:xfrm>
            <a:off x="2011680" y="3721608"/>
            <a:ext cx="3749040" cy="36576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PROTOCOL</a:t>
            </a:r>
            <a:endParaRPr lang="en-US" sz="1300" dirty="0"/>
          </a:p>
        </p:txBody>
      </p:sp>
      <p:sp>
        <p:nvSpPr>
          <p:cNvPr id="16" name="Text 14"/>
          <p:cNvSpPr/>
          <p:nvPr/>
        </p:nvSpPr>
        <p:spPr>
          <a:xfrm>
            <a:off x="731520" y="4343400"/>
            <a:ext cx="5029200" cy="960120"/>
          </a:xfrm>
          <a:prstGeom prst="rect">
            <a:avLst/>
          </a:prstGeom>
          <a:noFill/>
          <a:ln/>
        </p:spPr>
        <p:txBody>
          <a:bodyPr wrap="square" lIns="0" tIns="0" rIns="0" bIns="0" rtlCol="0" anchor="ctr"/>
          <a:lstStyle/>
          <a:p>
            <a:pPr indent="0" marL="0">
              <a:buNone/>
            </a:pPr>
            <a:r>
              <a:rPr lang="en-US" sz="1400" dirty="0">
                <a:solidFill>
                  <a:srgbClr val="C5CDD8"/>
                </a:solidFill>
                <a:latin typeface="Arial" pitchFamily="34" charset="0"/>
                <a:ea typeface="Arial" pitchFamily="34" charset="-122"/>
                <a:cs typeface="Arial" pitchFamily="34" charset="-120"/>
              </a:rPr>
              <a:t>Classify → snap → cluster → score → elevate. National view is a union query, not a rewrite.</a:t>
            </a:r>
            <a:endParaRPr lang="en-US" sz="1400" dirty="0"/>
          </a:p>
        </p:txBody>
      </p:sp>
      <p:sp>
        <p:nvSpPr>
          <p:cNvPr id="17" name="Shape 15"/>
          <p:cNvSpPr/>
          <p:nvPr/>
        </p:nvSpPr>
        <p:spPr>
          <a:xfrm>
            <a:off x="6309360" y="3429000"/>
            <a:ext cx="5577840" cy="2148840"/>
          </a:xfrm>
          <a:prstGeom prst="roundRect">
            <a:avLst>
              <a:gd name="adj" fmla="val 3404"/>
            </a:avLst>
          </a:prstGeom>
          <a:solidFill>
            <a:srgbClr val="FFFFFF"/>
          </a:solidFill>
          <a:ln/>
        </p:spPr>
      </p:sp>
      <p:sp>
        <p:nvSpPr>
          <p:cNvPr id="18" name="Text 16"/>
          <p:cNvSpPr/>
          <p:nvPr/>
        </p:nvSpPr>
        <p:spPr>
          <a:xfrm>
            <a:off x="6583680" y="3657600"/>
            <a:ext cx="1188720" cy="457200"/>
          </a:xfrm>
          <a:prstGeom prst="rect">
            <a:avLst/>
          </a:prstGeom>
          <a:noFill/>
          <a:ln/>
        </p:spPr>
        <p:txBody>
          <a:bodyPr wrap="square" lIns="0" tIns="0" rIns="0" bIns="0" rtlCol="0" anchor="ctr"/>
          <a:lstStyle/>
          <a:p>
            <a:pPr indent="0" marL="0">
              <a:buNone/>
            </a:pPr>
            <a:r>
              <a:rPr lang="en-US" sz="2200" b="1" dirty="0">
                <a:solidFill>
                  <a:srgbClr val="C45C26"/>
                </a:solidFill>
                <a:latin typeface="Arial" pitchFamily="34" charset="0"/>
                <a:ea typeface="Arial" pitchFamily="34" charset="-122"/>
                <a:cs typeface="Arial" pitchFamily="34" charset="-120"/>
              </a:rPr>
              <a:t>N+</a:t>
            </a:r>
            <a:endParaRPr lang="en-US" sz="2200" dirty="0"/>
          </a:p>
        </p:txBody>
      </p:sp>
      <p:sp>
        <p:nvSpPr>
          <p:cNvPr id="19" name="Text 17"/>
          <p:cNvSpPr/>
          <p:nvPr/>
        </p:nvSpPr>
        <p:spPr>
          <a:xfrm>
            <a:off x="7863840" y="3721608"/>
            <a:ext cx="3749040" cy="365760"/>
          </a:xfrm>
          <a:prstGeom prst="rect">
            <a:avLst/>
          </a:prstGeom>
          <a:noFill/>
          <a:ln/>
        </p:spPr>
        <p:txBody>
          <a:bodyPr wrap="square" lIns="0" tIns="0" rIns="0" bIns="0" rtlCol="0" anchor="ctr"/>
          <a:lstStyle/>
          <a:p>
            <a:pPr indent="0" marL="0">
              <a:buNone/>
            </a:pPr>
            <a:r>
              <a:rPr lang="en-US" sz="1300" b="1" dirty="0">
                <a:solidFill>
                  <a:srgbClr val="1B2A4A"/>
                </a:solidFill>
                <a:latin typeface="Arial" pitchFamily="34" charset="0"/>
                <a:ea typeface="Arial" pitchFamily="34" charset="-122"/>
                <a:cs typeface="Arial" pitchFamily="34" charset="-120"/>
              </a:rPr>
              <a:t>NEXT STATE</a:t>
            </a:r>
            <a:endParaRPr lang="en-US" sz="1300" dirty="0"/>
          </a:p>
        </p:txBody>
      </p:sp>
      <p:sp>
        <p:nvSpPr>
          <p:cNvPr id="20" name="Text 18"/>
          <p:cNvSpPr/>
          <p:nvPr/>
        </p:nvSpPr>
        <p:spPr>
          <a:xfrm>
            <a:off x="6583680" y="4343400"/>
            <a:ext cx="5029200" cy="960120"/>
          </a:xfrm>
          <a:prstGeom prst="rect">
            <a:avLst/>
          </a:prstGeom>
          <a:noFill/>
          <a:ln/>
        </p:spPr>
        <p:txBody>
          <a:bodyPr wrap="square" lIns="0" tIns="0" rIns="0" bIns="0" rtlCol="0" anchor="ctr"/>
          <a:lstStyle/>
          <a:p>
            <a:pPr indent="0" marL="0">
              <a:buNone/>
            </a:pPr>
            <a:r>
              <a:rPr lang="en-US" sz="1400" dirty="0">
                <a:solidFill>
                  <a:srgbClr val="5C6B80"/>
                </a:solidFill>
                <a:latin typeface="Arial" pitchFamily="34" charset="0"/>
                <a:ea typeface="Arial" pitchFamily="34" charset="-122"/>
                <a:cs typeface="Arial" pitchFamily="34" charset="-120"/>
              </a:rPr>
              <a:t>Haryana is a config row. BRICS line: same protocol, different language pack. Not a claimed deployment.</a:t>
            </a:r>
            <a:endParaRPr lang="en-US" sz="1400" dirty="0"/>
          </a:p>
        </p:txBody>
      </p:sp>
      <p:sp>
        <p:nvSpPr>
          <p:cNvPr id="21" name="Text 19"/>
          <p:cNvSpPr/>
          <p:nvPr/>
        </p:nvSpPr>
        <p:spPr>
          <a:xfrm>
            <a:off x="365760" y="6446520"/>
            <a:ext cx="9144000" cy="228600"/>
          </a:xfrm>
          <a:prstGeom prst="rect">
            <a:avLst/>
          </a:prstGeom>
          <a:noFill/>
          <a:ln/>
        </p:spPr>
        <p:txBody>
          <a:bodyPr wrap="square" lIns="0" tIns="0" rIns="0" bIns="0" rtlCol="0" anchor="ctr"/>
          <a:lstStyle/>
          <a:p>
            <a:pPr indent="0" marL="0">
              <a:buNone/>
            </a:pPr>
            <a:r>
              <a:rPr lang="en-US" sz="1000" dirty="0">
                <a:solidFill>
                  <a:srgbClr val="5C6B80"/>
                </a:solidFill>
                <a:latin typeface="Arial" pitchFamily="34" charset="0"/>
                <a:ea typeface="Arial" pitchFamily="34" charset="-122"/>
                <a:cs typeface="Arial" pitchFamily="34" charset="-120"/>
              </a:rPr>
              <a:t>NIRMANGRID  ·  TRACK 1  ·  APPD AI</a:t>
            </a:r>
            <a:endParaRPr lang="en-US" sz="1000" dirty="0"/>
          </a:p>
        </p:txBody>
      </p:sp>
      <p:sp>
        <p:nvSpPr>
          <p:cNvPr id="22" name="Text 20"/>
          <p:cNvSpPr/>
          <p:nvPr/>
        </p:nvSpPr>
        <p:spPr>
          <a:xfrm>
            <a:off x="11155680" y="6446520"/>
            <a:ext cx="640080" cy="228600"/>
          </a:xfrm>
          <a:prstGeom prst="rect">
            <a:avLst/>
          </a:prstGeom>
          <a:noFill/>
          <a:ln/>
        </p:spPr>
        <p:txBody>
          <a:bodyPr wrap="square" lIns="0" tIns="0" rIns="0" bIns="0" rtlCol="0" anchor="ctr"/>
          <a:lstStyle/>
          <a:p>
            <a:pPr algn="r" indent="0" marL="0">
              <a:buNone/>
            </a:pPr>
            <a:r>
              <a:rPr lang="en-US" sz="1000" dirty="0">
                <a:solidFill>
                  <a:srgbClr val="5C6B80"/>
                </a:solidFill>
                <a:latin typeface="Arial" pitchFamily="34" charset="0"/>
                <a:ea typeface="Arial" pitchFamily="34" charset="-122"/>
                <a:cs typeface="Arial" pitchFamily="34" charset="-120"/>
              </a:rPr>
              <a:t>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7F3EA"/>
          </a:solidFill>
          <a:ln/>
        </p:spPr>
      </p:sp>
      <p:sp>
        <p:nvSpPr>
          <p:cNvPr id="3" name="Text 1"/>
          <p:cNvSpPr/>
          <p:nvPr/>
        </p:nvSpPr>
        <p:spPr>
          <a:xfrm>
            <a:off x="457200" y="256032"/>
            <a:ext cx="10972800" cy="228600"/>
          </a:xfrm>
          <a:prstGeom prst="rect">
            <a:avLst/>
          </a:prstGeom>
          <a:noFill/>
          <a:ln/>
        </p:spPr>
        <p:txBody>
          <a:bodyPr wrap="square" lIns="0" tIns="0" rIns="0" bIns="0" rtlCol="0" anchor="ctr"/>
          <a:lstStyle/>
          <a:p>
            <a:pPr indent="0" marL="0">
              <a:buNone/>
            </a:pPr>
            <a:r>
              <a:rPr lang="en-US" sz="1100" b="1" spc="150" kern="0" dirty="0">
                <a:solidFill>
                  <a:srgbClr val="C45C26"/>
                </a:solidFill>
                <a:latin typeface="Arial" pitchFamily="34" charset="0"/>
                <a:ea typeface="Arial" pitchFamily="34" charset="-122"/>
                <a:cs typeface="Arial" pitchFamily="34" charset="-120"/>
              </a:rPr>
              <a:t>PILOT IN WEEKS   ·   RUBRIC 20% DEPLOY + 15% IMPACT</a:t>
            </a:r>
            <a:endParaRPr lang="en-US" sz="1100" dirty="0"/>
          </a:p>
        </p:txBody>
      </p:sp>
      <p:sp>
        <p:nvSpPr>
          <p:cNvPr id="4" name="Text 2"/>
          <p:cNvSpPr/>
          <p:nvPr/>
        </p:nvSpPr>
        <p:spPr>
          <a:xfrm>
            <a:off x="457200" y="502920"/>
            <a:ext cx="11247120" cy="365760"/>
          </a:xfrm>
          <a:prstGeom prst="rect">
            <a:avLst/>
          </a:prstGeom>
          <a:noFill/>
          <a:ln/>
        </p:spPr>
        <p:txBody>
          <a:bodyPr wrap="square" lIns="0" tIns="0" rIns="0" bIns="0" rtlCol="0" anchor="ctr"/>
          <a:lstStyle/>
          <a:p>
            <a:pPr indent="0" marL="0">
              <a:buNone/>
            </a:pPr>
            <a:r>
              <a:rPr lang="en-US" sz="1700" b="1" dirty="0">
                <a:solidFill>
                  <a:srgbClr val="1B2A4A"/>
                </a:solidFill>
                <a:latin typeface="Arial" pitchFamily="34" charset="0"/>
                <a:ea typeface="Arial" pitchFamily="34" charset="-122"/>
                <a:cs typeface="Arial" pitchFamily="34" charset="-120"/>
              </a:rPr>
              <a:t>We do not replace Sewa. We sit on top of it and hand a ranked shelf to the plan cell.</a:t>
            </a:r>
            <a:endParaRPr lang="en-US" sz="1700" dirty="0"/>
          </a:p>
        </p:txBody>
      </p:sp>
      <p:sp>
        <p:nvSpPr>
          <p:cNvPr id="5" name="Shape 3"/>
          <p:cNvSpPr/>
          <p:nvPr/>
        </p:nvSpPr>
        <p:spPr>
          <a:xfrm>
            <a:off x="457200" y="1051560"/>
            <a:ext cx="11292840" cy="960120"/>
          </a:xfrm>
          <a:prstGeom prst="roundRect">
            <a:avLst>
              <a:gd name="adj" fmla="val 5714"/>
            </a:avLst>
          </a:prstGeom>
          <a:solidFill>
            <a:srgbClr val="FFFFFF"/>
          </a:solidFill>
          <a:ln/>
        </p:spPr>
      </p:sp>
      <p:sp>
        <p:nvSpPr>
          <p:cNvPr id="6" name="Shape 4"/>
          <p:cNvSpPr/>
          <p:nvPr/>
        </p:nvSpPr>
        <p:spPr>
          <a:xfrm>
            <a:off x="457200" y="1051560"/>
            <a:ext cx="109728" cy="960120"/>
          </a:xfrm>
          <a:prstGeom prst="rect">
            <a:avLst/>
          </a:prstGeom>
          <a:solidFill>
            <a:srgbClr val="C45C26"/>
          </a:solidFill>
          <a:ln/>
        </p:spPr>
      </p:sp>
      <p:sp>
        <p:nvSpPr>
          <p:cNvPr id="7" name="Text 5"/>
          <p:cNvSpPr/>
          <p:nvPr/>
        </p:nvSpPr>
        <p:spPr>
          <a:xfrm>
            <a:off x="822960" y="1307592"/>
            <a:ext cx="2194560" cy="457200"/>
          </a:xfrm>
          <a:prstGeom prst="rect">
            <a:avLst/>
          </a:prstGeom>
          <a:noFill/>
          <a:ln/>
        </p:spPr>
        <p:txBody>
          <a:bodyPr wrap="square" lIns="0" tIns="0" rIns="0" bIns="0" rtlCol="0" anchor="ctr"/>
          <a:lstStyle/>
          <a:p>
            <a:pPr indent="0" marL="0">
              <a:buNone/>
            </a:pPr>
            <a:r>
              <a:rPr lang="en-US" sz="1300" b="1" dirty="0">
                <a:solidFill>
                  <a:srgbClr val="C45C26"/>
                </a:solidFill>
                <a:latin typeface="Arial" pitchFamily="34" charset="0"/>
                <a:ea typeface="Arial" pitchFamily="34" charset="-122"/>
                <a:cs typeface="Arial" pitchFamily="34" charset="-120"/>
              </a:rPr>
              <a:t>WEEKS 1–3</a:t>
            </a:r>
            <a:endParaRPr lang="en-US" sz="1300" dirty="0"/>
          </a:p>
        </p:txBody>
      </p:sp>
      <p:sp>
        <p:nvSpPr>
          <p:cNvPr id="8" name="Text 6"/>
          <p:cNvSpPr/>
          <p:nvPr/>
        </p:nvSpPr>
        <p:spPr>
          <a:xfrm>
            <a:off x="3108960" y="1252728"/>
            <a:ext cx="8412480" cy="566928"/>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Sit with EE offices. Map how complaints die. Confirm language by district.</a:t>
            </a:r>
            <a:endParaRPr lang="en-US" sz="1500" dirty="0"/>
          </a:p>
        </p:txBody>
      </p:sp>
      <p:sp>
        <p:nvSpPr>
          <p:cNvPr id="9" name="Shape 7"/>
          <p:cNvSpPr/>
          <p:nvPr/>
        </p:nvSpPr>
        <p:spPr>
          <a:xfrm>
            <a:off x="457200" y="2103120"/>
            <a:ext cx="11292840" cy="960120"/>
          </a:xfrm>
          <a:prstGeom prst="roundRect">
            <a:avLst>
              <a:gd name="adj" fmla="val 5714"/>
            </a:avLst>
          </a:prstGeom>
          <a:solidFill>
            <a:srgbClr val="FFFFFF"/>
          </a:solidFill>
          <a:ln/>
        </p:spPr>
      </p:sp>
      <p:sp>
        <p:nvSpPr>
          <p:cNvPr id="10" name="Shape 8"/>
          <p:cNvSpPr/>
          <p:nvPr/>
        </p:nvSpPr>
        <p:spPr>
          <a:xfrm>
            <a:off x="457200" y="2103120"/>
            <a:ext cx="109728" cy="960120"/>
          </a:xfrm>
          <a:prstGeom prst="rect">
            <a:avLst/>
          </a:prstGeom>
          <a:solidFill>
            <a:srgbClr val="C45C26"/>
          </a:solidFill>
          <a:ln/>
        </p:spPr>
      </p:sp>
      <p:sp>
        <p:nvSpPr>
          <p:cNvPr id="11" name="Text 9"/>
          <p:cNvSpPr/>
          <p:nvPr/>
        </p:nvSpPr>
        <p:spPr>
          <a:xfrm>
            <a:off x="822960" y="2359152"/>
            <a:ext cx="2194560" cy="457200"/>
          </a:xfrm>
          <a:prstGeom prst="rect">
            <a:avLst/>
          </a:prstGeom>
          <a:noFill/>
          <a:ln/>
        </p:spPr>
        <p:txBody>
          <a:bodyPr wrap="square" lIns="0" tIns="0" rIns="0" bIns="0" rtlCol="0" anchor="ctr"/>
          <a:lstStyle/>
          <a:p>
            <a:pPr indent="0" marL="0">
              <a:buNone/>
            </a:pPr>
            <a:r>
              <a:rPr lang="en-US" sz="1300" b="1" dirty="0">
                <a:solidFill>
                  <a:srgbClr val="C45C26"/>
                </a:solidFill>
                <a:latin typeface="Arial" pitchFamily="34" charset="0"/>
                <a:ea typeface="Arial" pitchFamily="34" charset="-122"/>
                <a:cs typeface="Arial" pitchFamily="34" charset="-120"/>
              </a:rPr>
              <a:t>WEEKS 4–6</a:t>
            </a:r>
            <a:endParaRPr lang="en-US" sz="1300" dirty="0"/>
          </a:p>
        </p:txBody>
      </p:sp>
      <p:sp>
        <p:nvSpPr>
          <p:cNvPr id="12" name="Text 10"/>
          <p:cNvSpPr/>
          <p:nvPr/>
        </p:nvSpPr>
        <p:spPr>
          <a:xfrm>
            <a:off x="3108960" y="2304288"/>
            <a:ext cx="8412480" cy="566928"/>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Classifier + score on that state's public layers. Tone the department will stand behind.</a:t>
            </a:r>
            <a:endParaRPr lang="en-US" sz="1500" dirty="0"/>
          </a:p>
        </p:txBody>
      </p:sp>
      <p:sp>
        <p:nvSpPr>
          <p:cNvPr id="13" name="Shape 11"/>
          <p:cNvSpPr/>
          <p:nvPr/>
        </p:nvSpPr>
        <p:spPr>
          <a:xfrm>
            <a:off x="457200" y="3154680"/>
            <a:ext cx="11292840" cy="960120"/>
          </a:xfrm>
          <a:prstGeom prst="roundRect">
            <a:avLst>
              <a:gd name="adj" fmla="val 5714"/>
            </a:avLst>
          </a:prstGeom>
          <a:solidFill>
            <a:srgbClr val="FFFFFF"/>
          </a:solidFill>
          <a:ln/>
        </p:spPr>
      </p:sp>
      <p:sp>
        <p:nvSpPr>
          <p:cNvPr id="14" name="Shape 12"/>
          <p:cNvSpPr/>
          <p:nvPr/>
        </p:nvSpPr>
        <p:spPr>
          <a:xfrm>
            <a:off x="457200" y="3154680"/>
            <a:ext cx="109728" cy="960120"/>
          </a:xfrm>
          <a:prstGeom prst="rect">
            <a:avLst/>
          </a:prstGeom>
          <a:solidFill>
            <a:srgbClr val="C45C26"/>
          </a:solidFill>
          <a:ln/>
        </p:spPr>
      </p:sp>
      <p:sp>
        <p:nvSpPr>
          <p:cNvPr id="15" name="Text 13"/>
          <p:cNvSpPr/>
          <p:nvPr/>
        </p:nvSpPr>
        <p:spPr>
          <a:xfrm>
            <a:off x="822960" y="3410712"/>
            <a:ext cx="2194560" cy="457200"/>
          </a:xfrm>
          <a:prstGeom prst="rect">
            <a:avLst/>
          </a:prstGeom>
          <a:noFill/>
          <a:ln/>
        </p:spPr>
        <p:txBody>
          <a:bodyPr wrap="square" lIns="0" tIns="0" rIns="0" bIns="0" rtlCol="0" anchor="ctr"/>
          <a:lstStyle/>
          <a:p>
            <a:pPr indent="0" marL="0">
              <a:buNone/>
            </a:pPr>
            <a:r>
              <a:rPr lang="en-US" sz="1300" b="1" dirty="0">
                <a:solidFill>
                  <a:srgbClr val="C45C26"/>
                </a:solidFill>
                <a:latin typeface="Arial" pitchFamily="34" charset="0"/>
                <a:ea typeface="Arial" pitchFamily="34" charset="-122"/>
                <a:cs typeface="Arial" pitchFamily="34" charset="-120"/>
              </a:rPr>
              <a:t>WEEKS 7–9</a:t>
            </a:r>
            <a:endParaRPr lang="en-US" sz="1300" dirty="0"/>
          </a:p>
        </p:txBody>
      </p:sp>
      <p:sp>
        <p:nvSpPr>
          <p:cNvPr id="16" name="Text 14"/>
          <p:cNvSpPr/>
          <p:nvPr/>
        </p:nvSpPr>
        <p:spPr>
          <a:xfrm>
            <a:off x="3108960" y="3355848"/>
            <a:ext cx="8412480" cy="566928"/>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Three districts live. First acknowledgements on phones. Refine before scale.</a:t>
            </a:r>
            <a:endParaRPr lang="en-US" sz="1500" dirty="0"/>
          </a:p>
        </p:txBody>
      </p:sp>
      <p:sp>
        <p:nvSpPr>
          <p:cNvPr id="17" name="Shape 15"/>
          <p:cNvSpPr/>
          <p:nvPr/>
        </p:nvSpPr>
        <p:spPr>
          <a:xfrm>
            <a:off x="457200" y="4206240"/>
            <a:ext cx="11292840" cy="960120"/>
          </a:xfrm>
          <a:prstGeom prst="roundRect">
            <a:avLst>
              <a:gd name="adj" fmla="val 5714"/>
            </a:avLst>
          </a:prstGeom>
          <a:solidFill>
            <a:srgbClr val="FFFFFF"/>
          </a:solidFill>
          <a:ln/>
        </p:spPr>
      </p:sp>
      <p:sp>
        <p:nvSpPr>
          <p:cNvPr id="18" name="Shape 16"/>
          <p:cNvSpPr/>
          <p:nvPr/>
        </p:nvSpPr>
        <p:spPr>
          <a:xfrm>
            <a:off x="457200" y="4206240"/>
            <a:ext cx="109728" cy="960120"/>
          </a:xfrm>
          <a:prstGeom prst="rect">
            <a:avLst/>
          </a:prstGeom>
          <a:solidFill>
            <a:srgbClr val="C45C26"/>
          </a:solidFill>
          <a:ln/>
        </p:spPr>
      </p:sp>
      <p:sp>
        <p:nvSpPr>
          <p:cNvPr id="19" name="Text 17"/>
          <p:cNvSpPr/>
          <p:nvPr/>
        </p:nvSpPr>
        <p:spPr>
          <a:xfrm>
            <a:off x="822960" y="4462272"/>
            <a:ext cx="2194560" cy="457200"/>
          </a:xfrm>
          <a:prstGeom prst="rect">
            <a:avLst/>
          </a:prstGeom>
          <a:noFill/>
          <a:ln/>
        </p:spPr>
        <p:txBody>
          <a:bodyPr wrap="square" lIns="0" tIns="0" rIns="0" bIns="0" rtlCol="0" anchor="ctr"/>
          <a:lstStyle/>
          <a:p>
            <a:pPr indent="0" marL="0">
              <a:buNone/>
            </a:pPr>
            <a:r>
              <a:rPr lang="en-US" sz="1300" b="1" dirty="0">
                <a:solidFill>
                  <a:srgbClr val="C45C26"/>
                </a:solidFill>
                <a:latin typeface="Arial" pitchFamily="34" charset="0"/>
                <a:ea typeface="Arial" pitchFamily="34" charset="-122"/>
                <a:cs typeface="Arial" pitchFamily="34" charset="-120"/>
              </a:rPr>
              <a:t>WEEKS 10–13</a:t>
            </a:r>
            <a:endParaRPr lang="en-US" sz="1300" dirty="0"/>
          </a:p>
        </p:txBody>
      </p:sp>
      <p:sp>
        <p:nvSpPr>
          <p:cNvPr id="20" name="Text 18"/>
          <p:cNvSpPr/>
          <p:nvPr/>
        </p:nvSpPr>
        <p:spPr>
          <a:xfrm>
            <a:off x="3108960" y="4407408"/>
            <a:ext cx="8412480" cy="566928"/>
          </a:xfrm>
          <a:prstGeom prst="rect">
            <a:avLst/>
          </a:prstGeom>
          <a:noFill/>
          <a:ln/>
        </p:spPr>
        <p:txBody>
          <a:bodyPr wrap="square" lIns="0" tIns="0" rIns="0" bIns="0" rtlCol="0" anchor="ctr"/>
          <a:lstStyle/>
          <a:p>
            <a:pPr indent="0" marL="0">
              <a:buNone/>
            </a:pPr>
            <a:r>
              <a:rPr lang="en-US" sz="1500" dirty="0">
                <a:solidFill>
                  <a:srgbClr val="1B2A4A"/>
                </a:solidFill>
                <a:latin typeface="Arial" pitchFamily="34" charset="0"/>
                <a:ea typeface="Arial" pitchFamily="34" charset="-122"/>
                <a:cs typeface="Arial" pitchFamily="34" charset="-120"/>
              </a:rPr>
              <a:t>State number announced. Weekly snapshot to leadership. Same path as the Rajasthan 2-pager.</a:t>
            </a:r>
            <a:endParaRPr lang="en-US" sz="1500" dirty="0"/>
          </a:p>
        </p:txBody>
      </p:sp>
      <p:sp>
        <p:nvSpPr>
          <p:cNvPr id="21" name="Text 19"/>
          <p:cNvSpPr/>
          <p:nvPr/>
        </p:nvSpPr>
        <p:spPr>
          <a:xfrm>
            <a:off x="365760" y="6446520"/>
            <a:ext cx="9144000" cy="228600"/>
          </a:xfrm>
          <a:prstGeom prst="rect">
            <a:avLst/>
          </a:prstGeom>
          <a:noFill/>
          <a:ln/>
        </p:spPr>
        <p:txBody>
          <a:bodyPr wrap="square" lIns="0" tIns="0" rIns="0" bIns="0" rtlCol="0" anchor="ctr"/>
          <a:lstStyle/>
          <a:p>
            <a:pPr indent="0" marL="0">
              <a:buNone/>
            </a:pPr>
            <a:r>
              <a:rPr lang="en-US" sz="1000" dirty="0">
                <a:solidFill>
                  <a:srgbClr val="5C6B80"/>
                </a:solidFill>
                <a:latin typeface="Arial" pitchFamily="34" charset="0"/>
                <a:ea typeface="Arial" pitchFamily="34" charset="-122"/>
                <a:cs typeface="Arial" pitchFamily="34" charset="-120"/>
              </a:rPr>
              <a:t>NIRMANGRID  ·  TRACK 1  ·  APPD AI</a:t>
            </a:r>
            <a:endParaRPr lang="en-US" sz="1000" dirty="0"/>
          </a:p>
        </p:txBody>
      </p:sp>
      <p:sp>
        <p:nvSpPr>
          <p:cNvPr id="22" name="Text 20"/>
          <p:cNvSpPr/>
          <p:nvPr/>
        </p:nvSpPr>
        <p:spPr>
          <a:xfrm>
            <a:off x="11155680" y="6446520"/>
            <a:ext cx="640080" cy="228600"/>
          </a:xfrm>
          <a:prstGeom prst="rect">
            <a:avLst/>
          </a:prstGeom>
          <a:noFill/>
          <a:ln/>
        </p:spPr>
        <p:txBody>
          <a:bodyPr wrap="square" lIns="0" tIns="0" rIns="0" bIns="0" rtlCol="0" anchor="ctr"/>
          <a:lstStyle/>
          <a:p>
            <a:pPr algn="r" indent="0" marL="0">
              <a:buNone/>
            </a:pPr>
            <a:r>
              <a:rPr lang="en-US" sz="1000" dirty="0">
                <a:solidFill>
                  <a:srgbClr val="5C6B80"/>
                </a:solidFill>
                <a:latin typeface="Arial" pitchFamily="34" charset="0"/>
                <a:ea typeface="Arial" pitchFamily="34" charset="-122"/>
                <a:cs typeface="Arial" pitchFamily="34" charset="-120"/>
              </a:rPr>
              <a:t>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sp>
      <p:sp>
        <p:nvSpPr>
          <p:cNvPr id="3" name="Shape 1"/>
          <p:cNvSpPr/>
          <p:nvPr/>
        </p:nvSpPr>
        <p:spPr>
          <a:xfrm>
            <a:off x="0" y="0"/>
            <a:ext cx="146304" cy="6858000"/>
          </a:xfrm>
          <a:prstGeom prst="rect">
            <a:avLst/>
          </a:prstGeom>
          <a:solidFill>
            <a:srgbClr val="C45C26"/>
          </a:solidFill>
          <a:ln/>
        </p:spPr>
      </p:sp>
      <p:sp>
        <p:nvSpPr>
          <p:cNvPr id="4" name="Text 2"/>
          <p:cNvSpPr/>
          <p:nvPr/>
        </p:nvSpPr>
        <p:spPr>
          <a:xfrm>
            <a:off x="640080" y="365760"/>
            <a:ext cx="10972800" cy="228600"/>
          </a:xfrm>
          <a:prstGeom prst="rect">
            <a:avLst/>
          </a:prstGeom>
          <a:noFill/>
          <a:ln/>
        </p:spPr>
        <p:txBody>
          <a:bodyPr wrap="square" lIns="0" tIns="0" rIns="0" bIns="0" rtlCol="0" anchor="ctr"/>
          <a:lstStyle/>
          <a:p>
            <a:pPr indent="0" marL="0">
              <a:buNone/>
            </a:pPr>
            <a:r>
              <a:rPr lang="en-US" sz="1100" b="1" spc="150" kern="0" dirty="0">
                <a:solidFill>
                  <a:srgbClr val="C45C26"/>
                </a:solidFill>
                <a:latin typeface="Arial" pitchFamily="34" charset="0"/>
                <a:ea typeface="Arial" pitchFamily="34" charset="-122"/>
                <a:cs typeface="Arial" pitchFamily="34" charset="-120"/>
              </a:rPr>
              <a:t>THE ASK  ·  AND THE LINE WE WILL NOT CROSS</a:t>
            </a:r>
            <a:endParaRPr lang="en-US" sz="1100" dirty="0"/>
          </a:p>
        </p:txBody>
      </p:sp>
      <p:sp>
        <p:nvSpPr>
          <p:cNvPr id="5" name="Text 3"/>
          <p:cNvSpPr/>
          <p:nvPr/>
        </p:nvSpPr>
        <p:spPr>
          <a:xfrm>
            <a:off x="640080" y="685800"/>
            <a:ext cx="1097280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Shortlist this. Then a ministry pilot conversation.</a:t>
            </a:r>
            <a:endParaRPr lang="en-US" sz="2400" dirty="0"/>
          </a:p>
        </p:txBody>
      </p:sp>
      <p:sp>
        <p:nvSpPr>
          <p:cNvPr id="6" name="Text 4"/>
          <p:cNvSpPr/>
          <p:nvPr/>
        </p:nvSpPr>
        <p:spPr>
          <a:xfrm>
            <a:off x="640080" y="1234440"/>
            <a:ext cx="10789920" cy="640080"/>
          </a:xfrm>
          <a:prstGeom prst="rect">
            <a:avLst/>
          </a:prstGeom>
          <a:noFill/>
          <a:ln/>
        </p:spPr>
        <p:txBody>
          <a:bodyPr wrap="square" lIns="0" tIns="0" rIns="0" bIns="0" rtlCol="0" anchor="ctr"/>
          <a:lstStyle/>
          <a:p>
            <a:pPr indent="0" marL="0">
              <a:buNone/>
            </a:pPr>
            <a:r>
              <a:rPr lang="en-US" sz="1400" dirty="0">
                <a:solidFill>
                  <a:srgbClr val="C5CDD8"/>
                </a:solidFill>
                <a:latin typeface="Arial" pitchFamily="34" charset="0"/>
                <a:ea typeface="Arial" pitchFamily="34" charset="-122"/>
                <a:cs typeface="Arial" pitchFamily="34" charset="-120"/>
              </a:rPr>
              <a:t>We are not claiming a signed PWD contract. We are claiming a working Digital Public Good, two tenants, public data, and a team that already sits in these departments.</a:t>
            </a:r>
            <a:endParaRPr lang="en-US" sz="1400" dirty="0"/>
          </a:p>
        </p:txBody>
      </p:sp>
      <p:sp>
        <p:nvSpPr>
          <p:cNvPr id="7" name="Shape 5"/>
          <p:cNvSpPr/>
          <p:nvPr/>
        </p:nvSpPr>
        <p:spPr>
          <a:xfrm>
            <a:off x="640080" y="2057400"/>
            <a:ext cx="5394960" cy="640080"/>
          </a:xfrm>
          <a:prstGeom prst="roundRect">
            <a:avLst>
              <a:gd name="adj" fmla="val 7143"/>
            </a:avLst>
          </a:prstGeom>
          <a:solidFill>
            <a:srgbClr val="243656"/>
          </a:solidFill>
          <a:ln/>
        </p:spPr>
      </p:sp>
      <p:sp>
        <p:nvSpPr>
          <p:cNvPr id="8" name="Text 6"/>
          <p:cNvSpPr/>
          <p:nvPr/>
        </p:nvSpPr>
        <p:spPr>
          <a:xfrm>
            <a:off x="868680" y="2057400"/>
            <a:ext cx="5029200" cy="640080"/>
          </a:xfrm>
          <a:prstGeom prst="rect">
            <a:avLst/>
          </a:prstGeom>
          <a:noFill/>
          <a:ln/>
        </p:spPr>
        <p:txBody>
          <a:bodyPr wrap="square" lIns="0" tIns="0" rIns="0" bIns="0" rtlCol="0" anchor="ctr"/>
          <a:lstStyle/>
          <a:p>
            <a:pPr indent="0" marL="0">
              <a:buNone/>
            </a:pPr>
            <a:r>
              <a:rPr lang="en-US" sz="1400" dirty="0">
                <a:solidFill>
                  <a:srgbClr val="F7F3EA"/>
                </a:solidFill>
                <a:latin typeface="Arial" pitchFamily="34" charset="0"/>
                <a:ea typeface="Arial" pitchFamily="34" charset="-122"/>
                <a:cs typeface="Arial" pitchFamily="34" charset="-120"/>
              </a:rPr>
              <a:t>No signed PWD work order</a:t>
            </a:r>
            <a:endParaRPr lang="en-US" sz="1400" dirty="0"/>
          </a:p>
        </p:txBody>
      </p:sp>
      <p:sp>
        <p:nvSpPr>
          <p:cNvPr id="9" name="Shape 7"/>
          <p:cNvSpPr/>
          <p:nvPr/>
        </p:nvSpPr>
        <p:spPr>
          <a:xfrm>
            <a:off x="6309360" y="2057400"/>
            <a:ext cx="5394960" cy="640080"/>
          </a:xfrm>
          <a:prstGeom prst="roundRect">
            <a:avLst>
              <a:gd name="adj" fmla="val 7143"/>
            </a:avLst>
          </a:prstGeom>
          <a:solidFill>
            <a:srgbClr val="243656"/>
          </a:solidFill>
          <a:ln/>
        </p:spPr>
      </p:sp>
      <p:sp>
        <p:nvSpPr>
          <p:cNvPr id="10" name="Text 8"/>
          <p:cNvSpPr/>
          <p:nvPr/>
        </p:nvSpPr>
        <p:spPr>
          <a:xfrm>
            <a:off x="6537960" y="2057400"/>
            <a:ext cx="5029200" cy="640080"/>
          </a:xfrm>
          <a:prstGeom prst="rect">
            <a:avLst/>
          </a:prstGeom>
          <a:noFill/>
          <a:ln/>
        </p:spPr>
        <p:txBody>
          <a:bodyPr wrap="square" lIns="0" tIns="0" rIns="0" bIns="0" rtlCol="0" anchor="ctr"/>
          <a:lstStyle/>
          <a:p>
            <a:pPr indent="0" marL="0">
              <a:buNone/>
            </a:pPr>
            <a:r>
              <a:rPr lang="en-US" sz="1400" dirty="0">
                <a:solidFill>
                  <a:srgbClr val="F7F3EA"/>
                </a:solidFill>
                <a:latin typeface="Arial" pitchFamily="34" charset="0"/>
                <a:ea typeface="Arial" pitchFamily="34" charset="-122"/>
                <a:cs typeface="Arial" pitchFamily="34" charset="-120"/>
              </a:rPr>
              <a:t>No live Gati Shakti join</a:t>
            </a:r>
            <a:endParaRPr lang="en-US" sz="1400" dirty="0"/>
          </a:p>
        </p:txBody>
      </p:sp>
      <p:sp>
        <p:nvSpPr>
          <p:cNvPr id="11" name="Shape 9"/>
          <p:cNvSpPr/>
          <p:nvPr/>
        </p:nvSpPr>
        <p:spPr>
          <a:xfrm>
            <a:off x="640080" y="2834640"/>
            <a:ext cx="5394960" cy="640080"/>
          </a:xfrm>
          <a:prstGeom prst="roundRect">
            <a:avLst>
              <a:gd name="adj" fmla="val 7143"/>
            </a:avLst>
          </a:prstGeom>
          <a:solidFill>
            <a:srgbClr val="243656"/>
          </a:solidFill>
          <a:ln/>
        </p:spPr>
      </p:sp>
      <p:sp>
        <p:nvSpPr>
          <p:cNvPr id="12" name="Text 10"/>
          <p:cNvSpPr/>
          <p:nvPr/>
        </p:nvSpPr>
        <p:spPr>
          <a:xfrm>
            <a:off x="868680" y="2834640"/>
            <a:ext cx="5029200" cy="640080"/>
          </a:xfrm>
          <a:prstGeom prst="rect">
            <a:avLst/>
          </a:prstGeom>
          <a:noFill/>
          <a:ln/>
        </p:spPr>
        <p:txBody>
          <a:bodyPr wrap="square" lIns="0" tIns="0" rIns="0" bIns="0" rtlCol="0" anchor="ctr"/>
          <a:lstStyle/>
          <a:p>
            <a:pPr indent="0" marL="0">
              <a:buNone/>
            </a:pPr>
            <a:r>
              <a:rPr lang="en-US" sz="1400" dirty="0">
                <a:solidFill>
                  <a:srgbClr val="F7F3EA"/>
                </a:solidFill>
                <a:latin typeface="Arial" pitchFamily="34" charset="0"/>
                <a:ea typeface="Arial" pitchFamily="34" charset="-122"/>
                <a:cs typeface="Arial" pitchFamily="34" charset="-120"/>
              </a:rPr>
              <a:t>No real complainant PII</a:t>
            </a:r>
            <a:endParaRPr lang="en-US" sz="1400" dirty="0"/>
          </a:p>
        </p:txBody>
      </p:sp>
      <p:sp>
        <p:nvSpPr>
          <p:cNvPr id="13" name="Shape 11"/>
          <p:cNvSpPr/>
          <p:nvPr/>
        </p:nvSpPr>
        <p:spPr>
          <a:xfrm>
            <a:off x="6309360" y="2834640"/>
            <a:ext cx="5394960" cy="640080"/>
          </a:xfrm>
          <a:prstGeom prst="roundRect">
            <a:avLst>
              <a:gd name="adj" fmla="val 7143"/>
            </a:avLst>
          </a:prstGeom>
          <a:solidFill>
            <a:srgbClr val="243656"/>
          </a:solidFill>
          <a:ln/>
        </p:spPr>
      </p:sp>
      <p:sp>
        <p:nvSpPr>
          <p:cNvPr id="14" name="Text 12"/>
          <p:cNvSpPr/>
          <p:nvPr/>
        </p:nvSpPr>
        <p:spPr>
          <a:xfrm>
            <a:off x="6537960" y="2834640"/>
            <a:ext cx="5029200" cy="640080"/>
          </a:xfrm>
          <a:prstGeom prst="rect">
            <a:avLst/>
          </a:prstGeom>
          <a:noFill/>
          <a:ln/>
        </p:spPr>
        <p:txBody>
          <a:bodyPr wrap="square" lIns="0" tIns="0" rIns="0" bIns="0" rtlCol="0" anchor="ctr"/>
          <a:lstStyle/>
          <a:p>
            <a:pPr indent="0" marL="0">
              <a:buNone/>
            </a:pPr>
            <a:r>
              <a:rPr lang="en-US" sz="1400" dirty="0">
                <a:solidFill>
                  <a:srgbClr val="F7F3EA"/>
                </a:solidFill>
                <a:latin typeface="Arial" pitchFamily="34" charset="0"/>
                <a:ea typeface="Arial" pitchFamily="34" charset="-122"/>
                <a:cs typeface="Arial" pitchFamily="34" charset="-120"/>
              </a:rPr>
              <a:t>No WCD / AHD bolted on</a:t>
            </a:r>
            <a:endParaRPr lang="en-US" sz="1400" dirty="0"/>
          </a:p>
        </p:txBody>
      </p:sp>
      <p:sp>
        <p:nvSpPr>
          <p:cNvPr id="15" name="Shape 13"/>
          <p:cNvSpPr/>
          <p:nvPr/>
        </p:nvSpPr>
        <p:spPr>
          <a:xfrm>
            <a:off x="640080" y="3611880"/>
            <a:ext cx="5394960" cy="640080"/>
          </a:xfrm>
          <a:prstGeom prst="roundRect">
            <a:avLst>
              <a:gd name="adj" fmla="val 7143"/>
            </a:avLst>
          </a:prstGeom>
          <a:solidFill>
            <a:srgbClr val="243656"/>
          </a:solidFill>
          <a:ln/>
        </p:spPr>
      </p:sp>
      <p:sp>
        <p:nvSpPr>
          <p:cNvPr id="16" name="Text 14"/>
          <p:cNvSpPr/>
          <p:nvPr/>
        </p:nvSpPr>
        <p:spPr>
          <a:xfrm>
            <a:off x="868680" y="3611880"/>
            <a:ext cx="5029200" cy="640080"/>
          </a:xfrm>
          <a:prstGeom prst="rect">
            <a:avLst/>
          </a:prstGeom>
          <a:noFill/>
          <a:ln/>
        </p:spPr>
        <p:txBody>
          <a:bodyPr wrap="square" lIns="0" tIns="0" rIns="0" bIns="0" rtlCol="0" anchor="ctr"/>
          <a:lstStyle/>
          <a:p>
            <a:pPr indent="0" marL="0">
              <a:buNone/>
            </a:pPr>
            <a:r>
              <a:rPr lang="en-US" sz="1400" dirty="0">
                <a:solidFill>
                  <a:srgbClr val="F7F3EA"/>
                </a:solidFill>
                <a:latin typeface="Arial" pitchFamily="34" charset="0"/>
                <a:ea typeface="Arial" pitchFamily="34" charset="-122"/>
                <a:cs typeface="Arial" pitchFamily="34" charset="-120"/>
              </a:rPr>
              <a:t>No Census 2011 passed off as 2026</a:t>
            </a:r>
            <a:endParaRPr lang="en-US" sz="1400" dirty="0"/>
          </a:p>
        </p:txBody>
      </p:sp>
      <p:sp>
        <p:nvSpPr>
          <p:cNvPr id="17" name="Shape 15"/>
          <p:cNvSpPr/>
          <p:nvPr/>
        </p:nvSpPr>
        <p:spPr>
          <a:xfrm>
            <a:off x="6309360" y="3611880"/>
            <a:ext cx="5394960" cy="640080"/>
          </a:xfrm>
          <a:prstGeom prst="roundRect">
            <a:avLst>
              <a:gd name="adj" fmla="val 7143"/>
            </a:avLst>
          </a:prstGeom>
          <a:solidFill>
            <a:srgbClr val="243656"/>
          </a:solidFill>
          <a:ln/>
        </p:spPr>
      </p:sp>
      <p:sp>
        <p:nvSpPr>
          <p:cNvPr id="18" name="Text 16"/>
          <p:cNvSpPr/>
          <p:nvPr/>
        </p:nvSpPr>
        <p:spPr>
          <a:xfrm>
            <a:off x="6537960" y="3611880"/>
            <a:ext cx="5029200" cy="640080"/>
          </a:xfrm>
          <a:prstGeom prst="rect">
            <a:avLst/>
          </a:prstGeom>
          <a:noFill/>
          <a:ln/>
        </p:spPr>
        <p:txBody>
          <a:bodyPr wrap="square" lIns="0" tIns="0" rIns="0" bIns="0" rtlCol="0" anchor="ctr"/>
          <a:lstStyle/>
          <a:p>
            <a:pPr indent="0" marL="0">
              <a:buNone/>
            </a:pPr>
            <a:r>
              <a:rPr lang="en-US" sz="1400" dirty="0">
                <a:solidFill>
                  <a:srgbClr val="F7F3EA"/>
                </a:solidFill>
                <a:latin typeface="Arial" pitchFamily="34" charset="0"/>
                <a:ea typeface="Arial" pitchFamily="34" charset="-122"/>
                <a:cs typeface="Arial" pitchFamily="34" charset="-120"/>
              </a:rPr>
              <a:t>No pre-May demo submitted as this build</a:t>
            </a:r>
            <a:endParaRPr lang="en-US" sz="1400" dirty="0"/>
          </a:p>
        </p:txBody>
      </p:sp>
      <p:sp>
        <p:nvSpPr>
          <p:cNvPr id="19" name="Text 17"/>
          <p:cNvSpPr/>
          <p:nvPr/>
        </p:nvSpPr>
        <p:spPr>
          <a:xfrm>
            <a:off x="640080" y="4709160"/>
            <a:ext cx="10972800" cy="32004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Repo + live Cloud Run URL + 4-minute video + this deck. That is the packet.</a:t>
            </a:r>
            <a:endParaRPr lang="en-US" sz="1400" dirty="0"/>
          </a:p>
        </p:txBody>
      </p:sp>
      <p:sp>
        <p:nvSpPr>
          <p:cNvPr id="20" name="Text 18"/>
          <p:cNvSpPr/>
          <p:nvPr/>
        </p:nvSpPr>
        <p:spPr>
          <a:xfrm>
            <a:off x="640080" y="5989320"/>
            <a:ext cx="10972800" cy="274320"/>
          </a:xfrm>
          <a:prstGeom prst="rect">
            <a:avLst/>
          </a:prstGeom>
          <a:noFill/>
          <a:ln/>
        </p:spPr>
        <p:txBody>
          <a:bodyPr wrap="square" lIns="0" tIns="0" rIns="0" bIns="0" rtlCol="0" anchor="ctr"/>
          <a:lstStyle/>
          <a:p>
            <a:pPr indent="0" marL="0">
              <a:buNone/>
            </a:pPr>
            <a:r>
              <a:rPr lang="en-US" sz="1200" dirty="0">
                <a:solidFill>
                  <a:srgbClr val="8A97AB"/>
                </a:solidFill>
                <a:latin typeface="Arial" pitchFamily="34" charset="0"/>
                <a:ea typeface="Arial" pitchFamily="34" charset="-122"/>
                <a:cs typeface="Arial" pitchFamily="34" charset="-120"/>
              </a:rPr>
              <a:t>AppD AI  ·  next@appd.ai  ·  +91 78272 85015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NirmanGrid — Track 1 Pitch</dc:title>
  <dc:subject>Code for Communities Second Edition</dc:subject>
  <dc:creator>AppD AI</dc:creator>
  <cp:lastModifiedBy>AppD AI</cp:lastModifiedBy>
  <cp:revision>1</cp:revision>
  <dcterms:created xsi:type="dcterms:W3CDTF">2026-08-27T12:53:18Z</dcterms:created>
  <dcterms:modified xsi:type="dcterms:W3CDTF">2026-08-27T12:53:18Z</dcterms:modified>
</cp:coreProperties>
</file>